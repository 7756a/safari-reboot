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494" y="-1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538D99A-BA27-4DBA-AC34-1D9EB1F75FFA}" type="datetimeFigureOut">
              <a:rPr lang="en-US" smtClean="0"/>
              <a:t>7/18/2016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4204336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8D99A-BA27-4DBA-AC34-1D9EB1F75FFA}" type="datetimeFigureOut">
              <a:rPr lang="en-US" smtClean="0"/>
              <a:t>7/18/2016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1539664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538D99A-BA27-4DBA-AC34-1D9EB1F75FFA}" type="datetimeFigureOut">
              <a:rPr lang="en-US" smtClean="0"/>
              <a:t>7/18/2016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835970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538D99A-BA27-4DBA-AC34-1D9EB1F75FFA}" type="datetimeFigureOut">
              <a:rPr lang="en-US" smtClean="0"/>
              <a:t>7/18/2016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1236141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538D99A-BA27-4DBA-AC34-1D9EB1F75FFA}" type="datetimeFigureOut">
              <a:rPr lang="en-US" smtClean="0"/>
              <a:t>7/18/2016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2745053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38D99A-BA27-4DBA-AC34-1D9EB1F75FFA}" type="datetimeFigureOut">
              <a:rPr lang="en-US" smtClean="0"/>
              <a:t>7/18/2016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9557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8D99A-BA27-4DBA-AC34-1D9EB1F75FFA}" type="datetimeFigureOut">
              <a:rPr lang="en-US" smtClean="0"/>
              <a:t>7/18/2016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2805928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8D99A-BA27-4DBA-AC34-1D9EB1F75FFA}" type="datetimeFigureOut">
              <a:rPr lang="en-US" smtClean="0"/>
              <a:t>7/18/2016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3732248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38D99A-BA27-4DBA-AC34-1D9EB1F75FFA}" type="datetimeFigureOut">
              <a:rPr lang="en-US" smtClean="0"/>
              <a:t>7/18/2016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2198462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8D99A-BA27-4DBA-AC34-1D9EB1F75FFA}" type="datetimeFigureOut">
              <a:rPr lang="en-US" smtClean="0"/>
              <a:t>7/18/2016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2398348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38D99A-BA27-4DBA-AC34-1D9EB1F75FFA}" type="datetimeFigureOut">
              <a:rPr lang="en-US" smtClean="0"/>
              <a:t>7/18/2016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29A2-8074-4BF1-B473-6EA624640B06}" type="slidenum">
              <a:rPr lang="en-US" smtClean="0"/>
              <a:t>‹#›</a:t>
            </a:fld>
            <a:endParaRPr lang="en-US"/>
          </a:p>
        </p:txBody>
      </p:sp>
    </p:spTree>
    <p:extLst>
      <p:ext uri="{BB962C8B-B14F-4D97-AF65-F5344CB8AC3E}">
        <p14:creationId xmlns:p14="http://schemas.microsoft.com/office/powerpoint/2010/main" val="2679924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38D99A-BA27-4DBA-AC34-1D9EB1F75FFA}" type="datetimeFigureOut">
              <a:rPr lang="en-US" smtClean="0"/>
              <a:t>7/18/2016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929A2-8074-4BF1-B473-6EA624640B06}" type="slidenum">
              <a:rPr lang="en-US" smtClean="0"/>
              <a:t>‹#›</a:t>
            </a:fld>
            <a:endParaRPr lang="en-US"/>
          </a:p>
        </p:txBody>
      </p:sp>
    </p:spTree>
    <p:extLst>
      <p:ext uri="{BB962C8B-B14F-4D97-AF65-F5344CB8AC3E}">
        <p14:creationId xmlns:p14="http://schemas.microsoft.com/office/powerpoint/2010/main" val="3107492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28600"/>
            <a:ext cx="7772400" cy="1470025"/>
          </a:xfrm>
        </p:spPr>
        <p:txBody>
          <a:bodyPr/>
          <a:lstStyle/>
          <a:p>
            <a:pPr lvl="0"/>
            <a:r>
              <a:rPr lang="en-US" dirty="0">
                <a:solidFill>
                  <a:srgbClr val="FF0000"/>
                </a:solidFill>
              </a:rPr>
              <a:t>Security risk in the cloud</a:t>
            </a:r>
            <a:r>
              <a:rPr lang="en-GB" dirty="0"/>
              <a:t/>
            </a:r>
            <a:br>
              <a:rPr lang="en-GB" dirty="0"/>
            </a:br>
            <a:endParaRPr lang="en-US" dirty="0"/>
          </a:p>
        </p:txBody>
      </p:sp>
      <p:sp>
        <p:nvSpPr>
          <p:cNvPr id="3" name="Subtitle 2"/>
          <p:cNvSpPr>
            <a:spLocks noGrp="1"/>
          </p:cNvSpPr>
          <p:nvPr>
            <p:ph type="subTitle" idx="1"/>
          </p:nvPr>
        </p:nvSpPr>
        <p:spPr>
          <a:xfrm>
            <a:off x="228600" y="2057400"/>
            <a:ext cx="8686800" cy="4572000"/>
          </a:xfrm>
        </p:spPr>
        <p:txBody>
          <a:bodyPr/>
          <a:lstStyle/>
          <a:p>
            <a:r>
              <a:rPr lang="en-US" dirty="0">
                <a:solidFill>
                  <a:schemeClr val="tx1"/>
                </a:solidFill>
              </a:rPr>
              <a:t>By realizing the security risks, a customer will be able to assess prospective providers and choose the right services that will not compromise their own compliance to legislation and regulations. </a:t>
            </a:r>
          </a:p>
        </p:txBody>
      </p:sp>
    </p:spTree>
    <p:extLst>
      <p:ext uri="{BB962C8B-B14F-4D97-AF65-F5344CB8AC3E}">
        <p14:creationId xmlns:p14="http://schemas.microsoft.com/office/powerpoint/2010/main" val="22586876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t> Security risks of Cloud computing and mitigating measures </a:t>
            </a:r>
            <a:br>
              <a:rPr lang="en-US" sz="2800" b="1" dirty="0" smtClean="0"/>
            </a:br>
            <a:endParaRPr lang="en-US" sz="2800" b="1" dirty="0"/>
          </a:p>
        </p:txBody>
      </p:sp>
      <p:sp>
        <p:nvSpPr>
          <p:cNvPr id="3" name="Content Placeholder 2"/>
          <p:cNvSpPr>
            <a:spLocks noGrp="1"/>
          </p:cNvSpPr>
          <p:nvPr>
            <p:ph idx="1"/>
          </p:nvPr>
        </p:nvSpPr>
        <p:spPr/>
        <p:txBody>
          <a:bodyPr>
            <a:normAutofit fontScale="70000" lnSpcReduction="20000"/>
          </a:bodyPr>
          <a:lstStyle/>
          <a:p>
            <a:r>
              <a:rPr lang="en-US" dirty="0" smtClean="0"/>
              <a:t>Since </a:t>
            </a:r>
            <a:r>
              <a:rPr lang="en-US" dirty="0"/>
              <a:t>Cloud computing contains many new architectural and design features we first need to look at the different types of security risks. A group of leading IT providers like HP, Oracle, </a:t>
            </a:r>
            <a:r>
              <a:rPr lang="en-US" dirty="0" err="1"/>
              <a:t>Qualys</a:t>
            </a:r>
            <a:r>
              <a:rPr lang="en-US" dirty="0"/>
              <a:t>, Microsoft and Rackspace as well as customers like Bank of America have joined forces in the </a:t>
            </a:r>
            <a:r>
              <a:rPr lang="en-US" b="1" dirty="0"/>
              <a:t>Cloud Security Alliance (CSA). </a:t>
            </a:r>
          </a:p>
          <a:p>
            <a:r>
              <a:rPr lang="en-US" dirty="0"/>
              <a:t>The Cloud Security Alliance (CSA) is a not-for-profit organization with a mission to promote the use of best practices for providing security assurance within Cloud Computing, and to provide education on the uses of Cloud Computing to help secure all other forms of computing. (Source: Cloudsecurityalliance.org). </a:t>
            </a:r>
          </a:p>
          <a:p>
            <a:r>
              <a:rPr lang="en-US" b="1" dirty="0"/>
              <a:t>In 2010 it published a white paper discussing Cloud security issues and corresponding mitigation measures it calls ‘remediation’. </a:t>
            </a:r>
          </a:p>
          <a:p>
            <a:r>
              <a:rPr lang="en-US" dirty="0"/>
              <a:t>The paper is named ‘Cloud Security Alliance “Top Threats to Cloud Computing” Version 1.0 (2010)’ or can be found at: </a:t>
            </a:r>
            <a:r>
              <a:rPr lang="en-US" dirty="0" smtClean="0"/>
              <a:t>Cloudsecurityalliance.org/top threats </a:t>
            </a:r>
            <a:endParaRPr lang="en-US" dirty="0"/>
          </a:p>
        </p:txBody>
      </p:sp>
    </p:spTree>
    <p:extLst>
      <p:ext uri="{BB962C8B-B14F-4D97-AF65-F5344CB8AC3E}">
        <p14:creationId xmlns:p14="http://schemas.microsoft.com/office/powerpoint/2010/main" val="27005373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t>
            </a:r>
            <a:r>
              <a:rPr lang="en-US" sz="4000" b="1" dirty="0" smtClean="0">
                <a:solidFill>
                  <a:srgbClr val="FF0000"/>
                </a:solidFill>
              </a:rPr>
              <a:t>Security risks in the Cloud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a:t>
            </a:r>
            <a:r>
              <a:rPr lang="en-US" dirty="0"/>
              <a:t>top threats to Cloud computing according to the CSA are, in no specific order, data loss/leakage, shared technology vulnerabilities, insecure application interfaces (API), malicious insiders, abuse and nefarious use of Cloud computing, unknown risk profile and account, service and traffic hijacking. (source: “Top Threats to Cloud Computing” Version 1.0 – 2010). Let us have a closer look at these risks. </a:t>
            </a:r>
          </a:p>
          <a:p>
            <a:r>
              <a:rPr lang="en-US" b="1" dirty="0"/>
              <a:t>Data loss/leakage </a:t>
            </a:r>
          </a:p>
          <a:p>
            <a:pPr marL="0" indent="0">
              <a:buNone/>
            </a:pPr>
            <a:r>
              <a:rPr lang="en-US" dirty="0" smtClean="0"/>
              <a:t>	Data </a:t>
            </a:r>
            <a:r>
              <a:rPr lang="en-US" dirty="0"/>
              <a:t>in the Cloud has many advantages, but can be </a:t>
            </a:r>
            <a:r>
              <a:rPr lang="en-US" dirty="0" smtClean="0"/>
              <a:t>	compromised </a:t>
            </a:r>
            <a:r>
              <a:rPr lang="en-US" dirty="0"/>
              <a:t>in many ways. It can be altered or </a:t>
            </a:r>
            <a:r>
              <a:rPr lang="en-US" dirty="0" smtClean="0"/>
              <a:t>	deleted </a:t>
            </a:r>
            <a:r>
              <a:rPr lang="en-US" dirty="0"/>
              <a:t>without a backup; it may be unlinked from its </a:t>
            </a:r>
            <a:r>
              <a:rPr lang="en-US" dirty="0" smtClean="0"/>
              <a:t>	context </a:t>
            </a:r>
            <a:r>
              <a:rPr lang="en-US" dirty="0"/>
              <a:t>or accessed by unauthorized people. </a:t>
            </a:r>
          </a:p>
        </p:txBody>
      </p:sp>
    </p:spTree>
    <p:extLst>
      <p:ext uri="{BB962C8B-B14F-4D97-AF65-F5344CB8AC3E}">
        <p14:creationId xmlns:p14="http://schemas.microsoft.com/office/powerpoint/2010/main" val="24176022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97563"/>
          </a:xfrm>
        </p:spPr>
        <p:txBody>
          <a:bodyPr>
            <a:normAutofit fontScale="62500" lnSpcReduction="20000"/>
          </a:bodyPr>
          <a:lstStyle/>
          <a:p>
            <a:pPr marL="0" indent="0">
              <a:buNone/>
            </a:pPr>
            <a:r>
              <a:rPr lang="en-US" b="1" dirty="0"/>
              <a:t>Shared technology vulnerabilities </a:t>
            </a:r>
          </a:p>
          <a:p>
            <a:r>
              <a:rPr lang="en-US" dirty="0"/>
              <a:t>A multi-tenant architecture has its own challenges. Some components may not have been developed for this type of use and may cause security issues. </a:t>
            </a:r>
          </a:p>
          <a:p>
            <a:pPr marL="0" indent="0">
              <a:buNone/>
            </a:pPr>
            <a:r>
              <a:rPr lang="en-US" b="1" dirty="0"/>
              <a:t>Insecure application interfaces </a:t>
            </a:r>
          </a:p>
          <a:p>
            <a:r>
              <a:rPr lang="en-US" dirty="0"/>
              <a:t>Application interfaces, or APIs, are key components for most Cloud services. If these interfaces are not properly designed for security they can become a risk ‘waiting to happen’. </a:t>
            </a:r>
          </a:p>
          <a:p>
            <a:pPr marL="0" indent="0">
              <a:buNone/>
            </a:pPr>
            <a:r>
              <a:rPr lang="en-US" b="1" dirty="0"/>
              <a:t>Malicious insiders </a:t>
            </a:r>
          </a:p>
          <a:p>
            <a:r>
              <a:rPr lang="en-US" dirty="0"/>
              <a:t>If Cloud providers are a cross-section of our society, statistically seen, some of their staff or sub-contractor staff may be untrustworthy. </a:t>
            </a:r>
          </a:p>
          <a:p>
            <a:pPr marL="0" indent="0">
              <a:buNone/>
            </a:pPr>
            <a:r>
              <a:rPr lang="en-US" b="1" dirty="0"/>
              <a:t>Abuse and nefarious use of Cloud computing </a:t>
            </a:r>
          </a:p>
          <a:p>
            <a:r>
              <a:rPr lang="en-US" dirty="0"/>
              <a:t>Many Cloud providers give very easy, and sometimes free for a trial period, access to their services. Registration is relatively anonymous and can and will attract ‘darker customers’ like spammers and hackers. Your Cloud provider may not only host your data and applications, but also malicious software. </a:t>
            </a:r>
          </a:p>
          <a:p>
            <a:pPr marL="0" indent="0">
              <a:buNone/>
            </a:pPr>
            <a:r>
              <a:rPr lang="en-US" b="1" dirty="0"/>
              <a:t>Unknown risk profile and account </a:t>
            </a:r>
          </a:p>
          <a:p>
            <a:r>
              <a:rPr lang="en-US" dirty="0"/>
              <a:t>Moving into the Cloud may make it more difficult for organizations to prove their compliance to legislation and regulations during external audits (i.e. </a:t>
            </a:r>
            <a:r>
              <a:rPr lang="en-US" dirty="0" smtClean="0"/>
              <a:t>IT-audit</a:t>
            </a:r>
            <a:r>
              <a:rPr lang="en-US" dirty="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52400"/>
            <a:ext cx="5541963"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20004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Security risks in the Cloud </a:t>
            </a:r>
            <a:r>
              <a:rPr lang="en-GB" b="1" dirty="0" smtClean="0"/>
              <a:t>…</a:t>
            </a:r>
            <a:endParaRPr lang="en-US" b="1" dirty="0"/>
          </a:p>
        </p:txBody>
      </p:sp>
      <p:sp>
        <p:nvSpPr>
          <p:cNvPr id="3" name="Content Placeholder 2"/>
          <p:cNvSpPr>
            <a:spLocks noGrp="1"/>
          </p:cNvSpPr>
          <p:nvPr>
            <p:ph idx="1"/>
          </p:nvPr>
        </p:nvSpPr>
        <p:spPr/>
        <p:txBody>
          <a:bodyPr>
            <a:normAutofit fontScale="92500"/>
          </a:bodyPr>
          <a:lstStyle/>
          <a:p>
            <a:pPr marL="0" indent="0">
              <a:buNone/>
            </a:pPr>
            <a:r>
              <a:rPr lang="en-US" b="1" dirty="0"/>
              <a:t>Account, service and traffic hijacking </a:t>
            </a:r>
          </a:p>
          <a:p>
            <a:r>
              <a:rPr lang="en-US" dirty="0"/>
              <a:t>Most private users of E-mail and the Internet will be aware of fraudulent tactics like phishing, password hacking and identity theft. Passwords giving access to Cloud services go outside your own company IT domain, and therefore can be compromised. For businesses this can mean they are vulnerable to industrial espionage or can lose important business data or processes. </a:t>
            </a:r>
          </a:p>
        </p:txBody>
      </p:sp>
    </p:spTree>
    <p:extLst>
      <p:ext uri="{BB962C8B-B14F-4D97-AF65-F5344CB8AC3E}">
        <p14:creationId xmlns:p14="http://schemas.microsoft.com/office/powerpoint/2010/main" val="1120299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solidFill>
                  <a:srgbClr val="FF0000"/>
                </a:solidFill>
              </a:rPr>
              <a:t>Measures mitigating security risks </a:t>
            </a:r>
            <a:r>
              <a:rPr lang="en-US" sz="3600" dirty="0" smtClean="0"/>
              <a:t/>
            </a:r>
            <a:br>
              <a:rPr lang="en-US" sz="3600" dirty="0" smtClean="0"/>
            </a:br>
            <a:endParaRPr lang="en-US" sz="3600" dirty="0"/>
          </a:p>
        </p:txBody>
      </p:sp>
      <p:sp>
        <p:nvSpPr>
          <p:cNvPr id="3" name="Content Placeholder 2"/>
          <p:cNvSpPr>
            <a:spLocks noGrp="1"/>
          </p:cNvSpPr>
          <p:nvPr>
            <p:ph idx="1"/>
          </p:nvPr>
        </p:nvSpPr>
        <p:spPr/>
        <p:txBody>
          <a:bodyPr>
            <a:normAutofit fontScale="70000" lnSpcReduction="20000"/>
          </a:bodyPr>
          <a:lstStyle/>
          <a:p>
            <a:r>
              <a:rPr lang="en-US" dirty="0" smtClean="0"/>
              <a:t>An </a:t>
            </a:r>
            <a:r>
              <a:rPr lang="en-US" dirty="0"/>
              <a:t>objective way to ensure a provider’s compliance with security best practices is to </a:t>
            </a:r>
            <a:r>
              <a:rPr lang="en-US" b="1" dirty="0"/>
              <a:t>demand ISO certification</a:t>
            </a:r>
            <a:r>
              <a:rPr lang="en-US" dirty="0"/>
              <a:t>. The standard ISO/IEC 20000:2011 contains a security paragraph, and an even more important certification is for the ISO/IEC 27001:2005 standard; Information technology -- Security techniques -- Information security management systems – Requirements, and the way they have implemented the best practices described in ISO/IEC 27002:2005; Information technology -- Security techniques -- Code of practice for information security management. </a:t>
            </a:r>
          </a:p>
          <a:p>
            <a:r>
              <a:rPr lang="en-US" dirty="0">
                <a:solidFill>
                  <a:srgbClr val="FF0000"/>
                </a:solidFill>
              </a:rPr>
              <a:t>The Cloud Security Association give some examples of what they call ‘remediation’ measures in their paper “Top Threats to Cloud Computing” Version 1.0 – 2010. We will give a brief summary of these measures in relation to the risks described by the Cloud Security Association, as well as some other possibilities. </a:t>
            </a:r>
          </a:p>
        </p:txBody>
      </p:sp>
    </p:spTree>
    <p:extLst>
      <p:ext uri="{BB962C8B-B14F-4D97-AF65-F5344CB8AC3E}">
        <p14:creationId xmlns:p14="http://schemas.microsoft.com/office/powerpoint/2010/main" val="31211879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Autofit/>
          </a:bodyPr>
          <a:lstStyle/>
          <a:p>
            <a:r>
              <a:rPr lang="en-US" sz="3600" b="1" dirty="0"/>
              <a:t>Measures mitigating security </a:t>
            </a:r>
            <a:r>
              <a:rPr lang="en-US" sz="3600" b="1" dirty="0" smtClean="0"/>
              <a:t>risks on the cloud  </a:t>
            </a:r>
            <a:endParaRPr lang="en-US" sz="3600" b="1" dirty="0"/>
          </a:p>
        </p:txBody>
      </p:sp>
      <p:sp>
        <p:nvSpPr>
          <p:cNvPr id="3" name="Content Placeholder 2"/>
          <p:cNvSpPr>
            <a:spLocks noGrp="1"/>
          </p:cNvSpPr>
          <p:nvPr>
            <p:ph idx="1"/>
          </p:nvPr>
        </p:nvSpPr>
        <p:spPr>
          <a:xfrm>
            <a:off x="457200" y="1600200"/>
            <a:ext cx="8229600" cy="5181600"/>
          </a:xfrm>
        </p:spPr>
        <p:txBody>
          <a:bodyPr>
            <a:normAutofit fontScale="62500" lnSpcReduction="20000"/>
          </a:bodyPr>
          <a:lstStyle/>
          <a:p>
            <a:pPr marL="0" indent="0">
              <a:buNone/>
            </a:pPr>
            <a:r>
              <a:rPr lang="en-US" b="1" dirty="0"/>
              <a:t>Data loss/leakage </a:t>
            </a:r>
          </a:p>
          <a:p>
            <a:r>
              <a:rPr lang="en-US" dirty="0"/>
              <a:t>Examples of mitigating measures that can be taken are authentication, audit (i.e. ISO/IEC 27001, Data Security) and authorization, as well as use of encryption and a proper backup strategy. </a:t>
            </a:r>
          </a:p>
          <a:p>
            <a:pPr marL="0" indent="0">
              <a:buNone/>
            </a:pPr>
            <a:r>
              <a:rPr lang="en-US" b="1" dirty="0"/>
              <a:t>Shared technology vulnerabilities </a:t>
            </a:r>
          </a:p>
          <a:p>
            <a:r>
              <a:rPr lang="en-US" dirty="0"/>
              <a:t>Examples of mitigating measures that can be taken are enhanced operations procedures for monitoring and escalations when security breaches and application of good security practice for installation, configuration and application of patches. </a:t>
            </a:r>
          </a:p>
          <a:p>
            <a:pPr marL="0" indent="0">
              <a:buNone/>
            </a:pPr>
            <a:r>
              <a:rPr lang="en-US" b="1" dirty="0"/>
              <a:t>Insecure application interfaces </a:t>
            </a:r>
          </a:p>
          <a:p>
            <a:r>
              <a:rPr lang="en-US" dirty="0"/>
              <a:t>Examples of mitigating measures that can be taken are designing for security, proper testing methods, understanding how they interact with other interfaces and software and strong authentication and access control. </a:t>
            </a:r>
          </a:p>
          <a:p>
            <a:pPr marL="0" indent="0">
              <a:buNone/>
            </a:pPr>
            <a:r>
              <a:rPr lang="en-US" b="1" dirty="0"/>
              <a:t>Malicious insiders </a:t>
            </a:r>
          </a:p>
          <a:p>
            <a:r>
              <a:rPr lang="en-US" dirty="0"/>
              <a:t>Examples of mitigating measures that can be taken are good HR vetting procedures, </a:t>
            </a:r>
            <a:r>
              <a:rPr lang="en-US" dirty="0" smtClean="0"/>
              <a:t>strong information security policies and procedures. </a:t>
            </a:r>
          </a:p>
          <a:p>
            <a:endParaRPr lang="en-US" dirty="0"/>
          </a:p>
        </p:txBody>
      </p:sp>
    </p:spTree>
    <p:extLst>
      <p:ext uri="{BB962C8B-B14F-4D97-AF65-F5344CB8AC3E}">
        <p14:creationId xmlns:p14="http://schemas.microsoft.com/office/powerpoint/2010/main" val="31701992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Abuse and nefarious use of Cloud computing </a:t>
            </a:r>
          </a:p>
          <a:p>
            <a:r>
              <a:rPr lang="en-US" dirty="0" smtClean="0"/>
              <a:t>Examples of mitigating measures that can be taken are validation of credentials, increased monitoring of traffic between customers and known suspicious sites. </a:t>
            </a:r>
            <a:endParaRPr lang="en-US" b="1" dirty="0" smtClean="0"/>
          </a:p>
          <a:p>
            <a:pPr marL="0" indent="0">
              <a:buNone/>
            </a:pPr>
            <a:r>
              <a:rPr lang="en-US" b="1" dirty="0" smtClean="0"/>
              <a:t>Unknown </a:t>
            </a:r>
            <a:r>
              <a:rPr lang="en-US" b="1" dirty="0"/>
              <a:t>risk profile and account </a:t>
            </a:r>
          </a:p>
          <a:p>
            <a:r>
              <a:rPr lang="en-US" dirty="0"/>
              <a:t>Examples of mitigating measures that can be taken are good SLA structures including Cloud provider compliance audits. </a:t>
            </a:r>
          </a:p>
          <a:p>
            <a:pPr marL="0" indent="0">
              <a:buNone/>
            </a:pPr>
            <a:r>
              <a:rPr lang="en-US" b="1" dirty="0"/>
              <a:t>Account, service and traffic hijacking </a:t>
            </a:r>
          </a:p>
          <a:p>
            <a:r>
              <a:rPr lang="en-US" dirty="0"/>
              <a:t>Examples of mitigating measures that can be taken are strong authentication techniques and monitoring of user behavior. </a:t>
            </a:r>
          </a:p>
        </p:txBody>
      </p:sp>
    </p:spTree>
    <p:extLst>
      <p:ext uri="{BB962C8B-B14F-4D97-AF65-F5344CB8AC3E}">
        <p14:creationId xmlns:p14="http://schemas.microsoft.com/office/powerpoint/2010/main" val="5212614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Questions </a:t>
            </a:r>
            <a:endParaRPr lang="en-US" dirty="0"/>
          </a:p>
        </p:txBody>
      </p:sp>
      <p:sp>
        <p:nvSpPr>
          <p:cNvPr id="3" name="Content Placeholder 2"/>
          <p:cNvSpPr>
            <a:spLocks noGrp="1"/>
          </p:cNvSpPr>
          <p:nvPr>
            <p:ph idx="1"/>
          </p:nvPr>
        </p:nvSpPr>
        <p:spPr/>
        <p:txBody>
          <a:bodyPr>
            <a:normAutofit/>
          </a:bodyPr>
          <a:lstStyle/>
          <a:p>
            <a:endParaRPr lang="en-US" dirty="0"/>
          </a:p>
          <a:p>
            <a:r>
              <a:rPr lang="en-US" dirty="0" smtClean="0"/>
              <a:t>What are the most </a:t>
            </a:r>
            <a:r>
              <a:rPr lang="en-US" dirty="0"/>
              <a:t>common security risks in the </a:t>
            </a:r>
            <a:r>
              <a:rPr lang="en-US" dirty="0" smtClean="0"/>
              <a:t>Cloud?</a:t>
            </a:r>
            <a:endParaRPr lang="en-US" dirty="0"/>
          </a:p>
          <a:p>
            <a:pPr marL="0" indent="0">
              <a:buNone/>
            </a:pPr>
            <a:endParaRPr lang="en-US" dirty="0"/>
          </a:p>
          <a:p>
            <a:r>
              <a:rPr lang="en-US" dirty="0" smtClean="0"/>
              <a:t> </a:t>
            </a:r>
            <a:r>
              <a:rPr lang="en-US" dirty="0"/>
              <a:t>Which measures can be taken to mitigate each security risk? </a:t>
            </a:r>
          </a:p>
          <a:p>
            <a:endParaRPr lang="en-US" dirty="0"/>
          </a:p>
        </p:txBody>
      </p:sp>
    </p:spTree>
    <p:extLst>
      <p:ext uri="{BB962C8B-B14F-4D97-AF65-F5344CB8AC3E}">
        <p14:creationId xmlns:p14="http://schemas.microsoft.com/office/powerpoint/2010/main" val="20410852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937</Words>
  <Application>Microsoft Office PowerPoint</Application>
  <PresentationFormat>On-screen Show (4:3)</PresentationFormat>
  <Paragraphs>47</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Security risk in the cloud </vt:lpstr>
      <vt:lpstr> Security risks of Cloud computing and mitigating measures  </vt:lpstr>
      <vt:lpstr> Security risks in the Cloud  </vt:lpstr>
      <vt:lpstr>PowerPoint Presentation</vt:lpstr>
      <vt:lpstr>Security risks in the Cloud …</vt:lpstr>
      <vt:lpstr>Measures mitigating security risks  </vt:lpstr>
      <vt:lpstr>Measures mitigating security risks on the cloud  </vt:lpstr>
      <vt:lpstr>PowerPoint Presentation</vt:lpstr>
      <vt:lpstr>Revision Questions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Django</dc:creator>
  <cp:lastModifiedBy>django1</cp:lastModifiedBy>
  <cp:revision>10</cp:revision>
  <dcterms:created xsi:type="dcterms:W3CDTF">2016-03-28T05:16:43Z</dcterms:created>
  <dcterms:modified xsi:type="dcterms:W3CDTF">2016-07-18T14:04:18Z</dcterms:modified>
</cp:coreProperties>
</file>