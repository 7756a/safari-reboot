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76" r:id="rId2"/>
    <p:sldId id="256" r:id="rId3"/>
    <p:sldId id="257" r:id="rId4"/>
    <p:sldId id="258" r:id="rId5"/>
    <p:sldId id="259" r:id="rId6"/>
    <p:sldId id="277"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8" r:id="rId23"/>
    <p:sldId id="275"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44" autoAdjust="0"/>
    <p:restoredTop sz="94660"/>
  </p:normalViewPr>
  <p:slideViewPr>
    <p:cSldViewPr>
      <p:cViewPr>
        <p:scale>
          <a:sx n="75" d="100"/>
          <a:sy n="75" d="100"/>
        </p:scale>
        <p:origin x="-120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7E94FC0-BC39-47F3-A0E7-7ADFD1D3F097}" type="datetimeFigureOut">
              <a:rPr lang="en-US" smtClean="0"/>
              <a:t>3/9/2020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800D56D-D17B-47A3-A557-A32EB0BA5465}" type="slidenum">
              <a:rPr lang="en-US" smtClean="0"/>
              <a:t>‹#›</a:t>
            </a:fld>
            <a:endParaRPr lang="en-US"/>
          </a:p>
        </p:txBody>
      </p:sp>
    </p:spTree>
    <p:extLst>
      <p:ext uri="{BB962C8B-B14F-4D97-AF65-F5344CB8AC3E}">
        <p14:creationId xmlns:p14="http://schemas.microsoft.com/office/powerpoint/2010/main" val="3812945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CD7A59-3063-4D58-BBF4-6F2D862B59B6}" type="datetimeFigureOut">
              <a:rPr lang="en-US" smtClean="0"/>
              <a:t>3/9/2020</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0AFD40-B29B-46B6-A311-46ADAA0444F6}" type="slidenum">
              <a:rPr lang="en-GB" smtClean="0"/>
              <a:t>‹#›</a:t>
            </a:fld>
            <a:endParaRPr lang="en-GB"/>
          </a:p>
        </p:txBody>
      </p:sp>
    </p:spTree>
    <p:extLst>
      <p:ext uri="{BB962C8B-B14F-4D97-AF65-F5344CB8AC3E}">
        <p14:creationId xmlns:p14="http://schemas.microsoft.com/office/powerpoint/2010/main" val="3903271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840AFD40-B29B-46B6-A311-46ADAA0444F6}" type="slidenum">
              <a:rPr lang="en-GB" smtClean="0"/>
              <a:t>4</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06C6658-8445-4703-9D5B-5DDF65928B46}" type="datetimeFigureOut">
              <a:rPr lang="en-US" smtClean="0"/>
              <a:pPr/>
              <a:t>3/9/2020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5F2303-8EA9-4F37-8BFD-D28ADF143655}" type="slidenum">
              <a:rPr lang="en-US" smtClean="0"/>
              <a:pPr/>
              <a:t>‹#›</a:t>
            </a:fld>
            <a:endParaRPr lang="en-US"/>
          </a:p>
        </p:txBody>
      </p:sp>
    </p:spTree>
    <p:extLst>
      <p:ext uri="{BB962C8B-B14F-4D97-AF65-F5344CB8AC3E}">
        <p14:creationId xmlns:p14="http://schemas.microsoft.com/office/powerpoint/2010/main" val="549101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06C6658-8445-4703-9D5B-5DDF65928B46}" type="datetimeFigureOut">
              <a:rPr lang="en-US" smtClean="0"/>
              <a:pPr/>
              <a:t>3/9/2020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5F2303-8EA9-4F37-8BFD-D28ADF143655}" type="slidenum">
              <a:rPr lang="en-US" smtClean="0"/>
              <a:pPr/>
              <a:t>‹#›</a:t>
            </a:fld>
            <a:endParaRPr lang="en-US"/>
          </a:p>
        </p:txBody>
      </p:sp>
    </p:spTree>
    <p:extLst>
      <p:ext uri="{BB962C8B-B14F-4D97-AF65-F5344CB8AC3E}">
        <p14:creationId xmlns:p14="http://schemas.microsoft.com/office/powerpoint/2010/main" val="1371366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06C6658-8445-4703-9D5B-5DDF65928B46}" type="datetimeFigureOut">
              <a:rPr lang="en-US" smtClean="0"/>
              <a:pPr/>
              <a:t>3/9/2020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5F2303-8EA9-4F37-8BFD-D28ADF143655}" type="slidenum">
              <a:rPr lang="en-US" smtClean="0"/>
              <a:pPr/>
              <a:t>‹#›</a:t>
            </a:fld>
            <a:endParaRPr lang="en-US"/>
          </a:p>
        </p:txBody>
      </p:sp>
    </p:spTree>
    <p:extLst>
      <p:ext uri="{BB962C8B-B14F-4D97-AF65-F5344CB8AC3E}">
        <p14:creationId xmlns:p14="http://schemas.microsoft.com/office/powerpoint/2010/main" val="1904893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06C6658-8445-4703-9D5B-5DDF65928B46}" type="datetimeFigureOut">
              <a:rPr lang="en-US" smtClean="0"/>
              <a:pPr/>
              <a:t>3/9/2020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5F2303-8EA9-4F37-8BFD-D28ADF143655}" type="slidenum">
              <a:rPr lang="en-US" smtClean="0"/>
              <a:pPr/>
              <a:t>‹#›</a:t>
            </a:fld>
            <a:endParaRPr lang="en-US"/>
          </a:p>
        </p:txBody>
      </p:sp>
    </p:spTree>
    <p:extLst>
      <p:ext uri="{BB962C8B-B14F-4D97-AF65-F5344CB8AC3E}">
        <p14:creationId xmlns:p14="http://schemas.microsoft.com/office/powerpoint/2010/main" val="3117364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06C6658-8445-4703-9D5B-5DDF65928B46}" type="datetimeFigureOut">
              <a:rPr lang="en-US" smtClean="0"/>
              <a:pPr/>
              <a:t>3/9/2020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5F2303-8EA9-4F37-8BFD-D28ADF143655}" type="slidenum">
              <a:rPr lang="en-US" smtClean="0"/>
              <a:pPr/>
              <a:t>‹#›</a:t>
            </a:fld>
            <a:endParaRPr lang="en-US"/>
          </a:p>
        </p:txBody>
      </p:sp>
    </p:spTree>
    <p:extLst>
      <p:ext uri="{BB962C8B-B14F-4D97-AF65-F5344CB8AC3E}">
        <p14:creationId xmlns:p14="http://schemas.microsoft.com/office/powerpoint/2010/main" val="751304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06C6658-8445-4703-9D5B-5DDF65928B46}" type="datetimeFigureOut">
              <a:rPr lang="en-US" smtClean="0"/>
              <a:pPr/>
              <a:t>3/9/2020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5F2303-8EA9-4F37-8BFD-D28ADF143655}" type="slidenum">
              <a:rPr lang="en-US" smtClean="0"/>
              <a:pPr/>
              <a:t>‹#›</a:t>
            </a:fld>
            <a:endParaRPr lang="en-US"/>
          </a:p>
        </p:txBody>
      </p:sp>
    </p:spTree>
    <p:extLst>
      <p:ext uri="{BB962C8B-B14F-4D97-AF65-F5344CB8AC3E}">
        <p14:creationId xmlns:p14="http://schemas.microsoft.com/office/powerpoint/2010/main" val="2954904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6C6658-8445-4703-9D5B-5DDF65928B46}" type="datetimeFigureOut">
              <a:rPr lang="en-US" smtClean="0"/>
              <a:pPr/>
              <a:t>3/9/2020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5F2303-8EA9-4F37-8BFD-D28ADF143655}" type="slidenum">
              <a:rPr lang="en-US" smtClean="0"/>
              <a:pPr/>
              <a:t>‹#›</a:t>
            </a:fld>
            <a:endParaRPr lang="en-US"/>
          </a:p>
        </p:txBody>
      </p:sp>
    </p:spTree>
    <p:extLst>
      <p:ext uri="{BB962C8B-B14F-4D97-AF65-F5344CB8AC3E}">
        <p14:creationId xmlns:p14="http://schemas.microsoft.com/office/powerpoint/2010/main" val="3504788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06C6658-8445-4703-9D5B-5DDF65928B46}" type="datetimeFigureOut">
              <a:rPr lang="en-US" smtClean="0"/>
              <a:pPr/>
              <a:t>3/9/2020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5F2303-8EA9-4F37-8BFD-D28ADF143655}" type="slidenum">
              <a:rPr lang="en-US" smtClean="0"/>
              <a:pPr/>
              <a:t>‹#›</a:t>
            </a:fld>
            <a:endParaRPr lang="en-US"/>
          </a:p>
        </p:txBody>
      </p:sp>
    </p:spTree>
    <p:extLst>
      <p:ext uri="{BB962C8B-B14F-4D97-AF65-F5344CB8AC3E}">
        <p14:creationId xmlns:p14="http://schemas.microsoft.com/office/powerpoint/2010/main" val="1090688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06C6658-8445-4703-9D5B-5DDF65928B46}" type="datetimeFigureOut">
              <a:rPr lang="en-US" smtClean="0"/>
              <a:pPr/>
              <a:t>3/9/2020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5F2303-8EA9-4F37-8BFD-D28ADF143655}" type="slidenum">
              <a:rPr lang="en-US" smtClean="0"/>
              <a:pPr/>
              <a:t>‹#›</a:t>
            </a:fld>
            <a:endParaRPr lang="en-US"/>
          </a:p>
        </p:txBody>
      </p:sp>
    </p:spTree>
    <p:extLst>
      <p:ext uri="{BB962C8B-B14F-4D97-AF65-F5344CB8AC3E}">
        <p14:creationId xmlns:p14="http://schemas.microsoft.com/office/powerpoint/2010/main" val="2192458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06C6658-8445-4703-9D5B-5DDF65928B46}" type="datetimeFigureOut">
              <a:rPr lang="en-US" smtClean="0"/>
              <a:pPr/>
              <a:t>3/9/2020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5F2303-8EA9-4F37-8BFD-D28ADF143655}" type="slidenum">
              <a:rPr lang="en-US" smtClean="0"/>
              <a:pPr/>
              <a:t>‹#›</a:t>
            </a:fld>
            <a:endParaRPr lang="en-US"/>
          </a:p>
        </p:txBody>
      </p:sp>
    </p:spTree>
    <p:extLst>
      <p:ext uri="{BB962C8B-B14F-4D97-AF65-F5344CB8AC3E}">
        <p14:creationId xmlns:p14="http://schemas.microsoft.com/office/powerpoint/2010/main" val="2364308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06C6658-8445-4703-9D5B-5DDF65928B46}" type="datetimeFigureOut">
              <a:rPr lang="en-US" smtClean="0"/>
              <a:pPr/>
              <a:t>3/9/2020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5F2303-8EA9-4F37-8BFD-D28ADF143655}" type="slidenum">
              <a:rPr lang="en-US" smtClean="0"/>
              <a:pPr/>
              <a:t>‹#›</a:t>
            </a:fld>
            <a:endParaRPr lang="en-US"/>
          </a:p>
        </p:txBody>
      </p:sp>
    </p:spTree>
    <p:extLst>
      <p:ext uri="{BB962C8B-B14F-4D97-AF65-F5344CB8AC3E}">
        <p14:creationId xmlns:p14="http://schemas.microsoft.com/office/powerpoint/2010/main" val="1752128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6C6658-8445-4703-9D5B-5DDF65928B46}" type="datetimeFigureOut">
              <a:rPr lang="en-US" smtClean="0"/>
              <a:pPr/>
              <a:t>3/9/2020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5F2303-8EA9-4F37-8BFD-D28ADF143655}" type="slidenum">
              <a:rPr lang="en-US" smtClean="0"/>
              <a:pPr/>
              <a:t>‹#›</a:t>
            </a:fld>
            <a:endParaRPr lang="en-US"/>
          </a:p>
        </p:txBody>
      </p:sp>
    </p:spTree>
    <p:extLst>
      <p:ext uri="{BB962C8B-B14F-4D97-AF65-F5344CB8AC3E}">
        <p14:creationId xmlns:p14="http://schemas.microsoft.com/office/powerpoint/2010/main" val="4874217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ctr">
              <a:buNone/>
            </a:pPr>
            <a:r>
              <a:rPr lang="en-US" sz="6000" dirty="0"/>
              <a:t>Cloud Applications </a:t>
            </a:r>
          </a:p>
        </p:txBody>
      </p:sp>
    </p:spTree>
    <p:extLst>
      <p:ext uri="{BB962C8B-B14F-4D97-AF65-F5344CB8AC3E}">
        <p14:creationId xmlns:p14="http://schemas.microsoft.com/office/powerpoint/2010/main" val="16458361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0"/>
            <a:ext cx="7772400" cy="1470025"/>
          </a:xfrm>
        </p:spPr>
        <p:txBody>
          <a:bodyPr/>
          <a:lstStyle/>
          <a:p>
            <a:r>
              <a:rPr lang="en-US" b="1" dirty="0"/>
              <a:t>Cloud Applications </a:t>
            </a:r>
          </a:p>
        </p:txBody>
      </p:sp>
      <p:sp>
        <p:nvSpPr>
          <p:cNvPr id="3" name="Subtitle 2"/>
          <p:cNvSpPr>
            <a:spLocks noGrp="1"/>
          </p:cNvSpPr>
          <p:nvPr>
            <p:ph type="subTitle" idx="1"/>
          </p:nvPr>
        </p:nvSpPr>
        <p:spPr>
          <a:xfrm>
            <a:off x="533400" y="2362200"/>
            <a:ext cx="8382000" cy="3962400"/>
          </a:xfrm>
        </p:spPr>
        <p:txBody>
          <a:bodyPr>
            <a:normAutofit fontScale="92500" lnSpcReduction="20000"/>
          </a:bodyPr>
          <a:lstStyle/>
          <a:p>
            <a:pPr marL="457200" indent="-457200" algn="l">
              <a:buFont typeface="Arial" pitchFamily="34" charset="0"/>
              <a:buChar char="•"/>
            </a:pPr>
            <a:r>
              <a:rPr lang="en-US" dirty="0">
                <a:solidFill>
                  <a:schemeClr val="tx1"/>
                </a:solidFill>
              </a:rPr>
              <a:t>Cloud computing has gained huge popularity in industry due to its ability to host applications for which the services can be delivered to consumers rapidly at minimal cost</a:t>
            </a:r>
            <a:r>
              <a:rPr lang="en-US" dirty="0" smtClean="0">
                <a:solidFill>
                  <a:schemeClr val="tx1"/>
                </a:solidFill>
              </a:rPr>
              <a:t>.</a:t>
            </a:r>
          </a:p>
          <a:p>
            <a:pPr marL="457200" indent="-457200" algn="l">
              <a:buFont typeface="Arial" pitchFamily="34" charset="0"/>
              <a:buChar char="•"/>
            </a:pPr>
            <a:r>
              <a:rPr lang="en-US" dirty="0" smtClean="0">
                <a:solidFill>
                  <a:schemeClr val="tx1"/>
                </a:solidFill>
              </a:rPr>
              <a:t>This lesson we discusses </a:t>
            </a:r>
            <a:r>
              <a:rPr lang="en-US" dirty="0">
                <a:solidFill>
                  <a:schemeClr val="tx1"/>
                </a:solidFill>
              </a:rPr>
              <a:t>some </a:t>
            </a:r>
            <a:r>
              <a:rPr lang="en-US" b="1" dirty="0">
                <a:solidFill>
                  <a:schemeClr val="tx1"/>
                </a:solidFill>
              </a:rPr>
              <a:t>application case studies</a:t>
            </a:r>
            <a:r>
              <a:rPr lang="en-US" dirty="0">
                <a:solidFill>
                  <a:schemeClr val="tx1"/>
                </a:solidFill>
              </a:rPr>
              <a:t>, detailing their architecture and </a:t>
            </a:r>
            <a:r>
              <a:rPr lang="en-US" b="1" dirty="0">
                <a:solidFill>
                  <a:schemeClr val="tx1"/>
                </a:solidFill>
              </a:rPr>
              <a:t>how they leveraged various cloud technologies. </a:t>
            </a:r>
            <a:endParaRPr lang="en-US" b="1" dirty="0" smtClean="0">
              <a:solidFill>
                <a:schemeClr val="tx1"/>
              </a:solidFill>
            </a:endParaRPr>
          </a:p>
          <a:p>
            <a:pPr marL="457200" indent="-457200" algn="l">
              <a:buFont typeface="Arial" pitchFamily="34" charset="0"/>
              <a:buChar char="•"/>
            </a:pPr>
            <a:r>
              <a:rPr lang="en-US" dirty="0" smtClean="0">
                <a:solidFill>
                  <a:schemeClr val="tx1"/>
                </a:solidFill>
              </a:rPr>
              <a:t>Applications </a:t>
            </a:r>
            <a:r>
              <a:rPr lang="en-US" dirty="0">
                <a:solidFill>
                  <a:schemeClr val="tx1"/>
                </a:solidFill>
              </a:rPr>
              <a:t>from a range of domains, from </a:t>
            </a:r>
            <a:r>
              <a:rPr lang="en-US" b="1" dirty="0">
                <a:solidFill>
                  <a:schemeClr val="tx1"/>
                </a:solidFill>
              </a:rPr>
              <a:t>scientific to engineering, gaming, and social networking, are considered</a:t>
            </a:r>
            <a:r>
              <a:rPr lang="en-US" dirty="0">
                <a:solidFill>
                  <a:schemeClr val="tx1"/>
                </a:solidFill>
              </a:rPr>
              <a:t>. </a:t>
            </a:r>
          </a:p>
        </p:txBody>
      </p:sp>
    </p:spTree>
    <p:extLst>
      <p:ext uri="{BB962C8B-B14F-4D97-AF65-F5344CB8AC3E}">
        <p14:creationId xmlns:p14="http://schemas.microsoft.com/office/powerpoint/2010/main" val="10823356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solidFill>
                  <a:srgbClr val="00B0F0"/>
                </a:solidFill>
              </a:rPr>
              <a:t>1 SCIENTIFIC APPLICATIONS </a:t>
            </a:r>
            <a:endParaRPr lang="en-US" sz="4000" dirty="0">
              <a:solidFill>
                <a:srgbClr val="00B0F0"/>
              </a:solidFill>
            </a:endParaRPr>
          </a:p>
        </p:txBody>
      </p:sp>
      <p:sp>
        <p:nvSpPr>
          <p:cNvPr id="3" name="Content Placeholder 2"/>
          <p:cNvSpPr>
            <a:spLocks noGrp="1"/>
          </p:cNvSpPr>
          <p:nvPr>
            <p:ph idx="1"/>
          </p:nvPr>
        </p:nvSpPr>
        <p:spPr>
          <a:xfrm>
            <a:off x="457200" y="1600200"/>
            <a:ext cx="8229600" cy="5105400"/>
          </a:xfrm>
        </p:spPr>
        <p:txBody>
          <a:bodyPr>
            <a:normAutofit fontScale="62500" lnSpcReduction="20000"/>
          </a:bodyPr>
          <a:lstStyle/>
          <a:p>
            <a:r>
              <a:rPr lang="en-US" dirty="0" smtClean="0"/>
              <a:t>Scientific applications are a sector that is increasingly using cloud computing systems and technologies</a:t>
            </a:r>
            <a:r>
              <a:rPr lang="en-US" dirty="0"/>
              <a:t>. </a:t>
            </a:r>
            <a:r>
              <a:rPr lang="en-US" b="1" dirty="0" smtClean="0"/>
              <a:t>The immediate benefit seen by researchers and academics is the potentially infinite availability of computing resources and storage at sustainable prices compared to a complete in house deployment</a:t>
            </a:r>
            <a:r>
              <a:rPr lang="en-US" dirty="0"/>
              <a:t>. Cloud </a:t>
            </a:r>
            <a:r>
              <a:rPr lang="en-US" dirty="0" smtClean="0"/>
              <a:t>computing systems meet the needs of different types of applications in the scientific domain</a:t>
            </a:r>
            <a:r>
              <a:rPr lang="en-US" dirty="0"/>
              <a:t>: </a:t>
            </a:r>
            <a:endParaRPr lang="en-US" dirty="0" smtClean="0"/>
          </a:p>
          <a:p>
            <a:pPr lvl="2"/>
            <a:r>
              <a:rPr lang="en-US" sz="3200" dirty="0" smtClean="0"/>
              <a:t>high-performance computing(HPC) applications,</a:t>
            </a:r>
          </a:p>
          <a:p>
            <a:pPr lvl="2"/>
            <a:r>
              <a:rPr lang="en-US" sz="3200" dirty="0" smtClean="0"/>
              <a:t>high-throughput computing(HTC)  applications, and </a:t>
            </a:r>
          </a:p>
          <a:p>
            <a:pPr lvl="2"/>
            <a:r>
              <a:rPr lang="en-US" sz="3200" dirty="0" smtClean="0"/>
              <a:t>data-intensive applications.</a:t>
            </a:r>
          </a:p>
          <a:p>
            <a:r>
              <a:rPr lang="en-US" dirty="0" smtClean="0"/>
              <a:t>The opportunity to use cloud resources is even more appealing because </a:t>
            </a:r>
            <a:r>
              <a:rPr lang="en-US" dirty="0"/>
              <a:t>minimal </a:t>
            </a:r>
            <a:r>
              <a:rPr lang="en-US" dirty="0" smtClean="0"/>
              <a:t>changes need to be made to existing applications in order to leverage cloud resources</a:t>
            </a:r>
            <a:r>
              <a:rPr lang="en-US" dirty="0"/>
              <a:t>. </a:t>
            </a:r>
            <a:r>
              <a:rPr lang="en-US" dirty="0" smtClean="0"/>
              <a:t>The most relevant option is </a:t>
            </a:r>
            <a:r>
              <a:rPr lang="en-US" b="1" dirty="0" err="1" smtClean="0"/>
              <a:t>IaaS</a:t>
            </a:r>
            <a:r>
              <a:rPr lang="en-US" b="1" dirty="0" smtClean="0"/>
              <a:t> </a:t>
            </a:r>
            <a:r>
              <a:rPr lang="en-US" dirty="0" smtClean="0"/>
              <a:t>solutions, which offer the optimal environment for running bag-of-tasks applications and workflows.</a:t>
            </a:r>
          </a:p>
          <a:p>
            <a:r>
              <a:rPr lang="en-US" dirty="0" smtClean="0"/>
              <a:t>Virtual machine instances are opportunely customized to </a:t>
            </a:r>
            <a:r>
              <a:rPr lang="en-US" dirty="0"/>
              <a:t>host </a:t>
            </a:r>
            <a:r>
              <a:rPr lang="en-US" dirty="0" smtClean="0"/>
              <a:t>the required software stack for running such applications and coordinated together with distributed computing middleware capable of interacting with cloud-based infrastructures. </a:t>
            </a:r>
            <a:r>
              <a:rPr lang="en-US" b="1" dirty="0" err="1" smtClean="0"/>
              <a:t>PaaS</a:t>
            </a:r>
            <a:r>
              <a:rPr lang="en-US" dirty="0" smtClean="0"/>
              <a:t> solutions </a:t>
            </a:r>
            <a:r>
              <a:rPr lang="en-US" dirty="0"/>
              <a:t>have </a:t>
            </a:r>
            <a:r>
              <a:rPr lang="en-US" dirty="0" smtClean="0"/>
              <a:t>been considered as well</a:t>
            </a:r>
            <a:r>
              <a:rPr lang="en-US" dirty="0"/>
              <a:t>.</a:t>
            </a:r>
          </a:p>
        </p:txBody>
      </p:sp>
    </p:spTree>
    <p:extLst>
      <p:ext uri="{BB962C8B-B14F-4D97-AF65-F5344CB8AC3E}">
        <p14:creationId xmlns:p14="http://schemas.microsoft.com/office/powerpoint/2010/main" val="14888407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68362"/>
          </a:xfrm>
        </p:spPr>
        <p:txBody>
          <a:bodyPr>
            <a:noAutofit/>
          </a:bodyPr>
          <a:lstStyle/>
          <a:p>
            <a:r>
              <a:rPr lang="en-US" sz="3200" dirty="0" smtClean="0">
                <a:solidFill>
                  <a:srgbClr val="FF0000"/>
                </a:solidFill>
              </a:rPr>
              <a:t>Healthcare: </a:t>
            </a:r>
            <a:r>
              <a:rPr lang="en-US" sz="3200" dirty="0" smtClean="0"/>
              <a:t/>
            </a:r>
            <a:br>
              <a:rPr lang="en-US" sz="3200" dirty="0" smtClean="0"/>
            </a:br>
            <a:r>
              <a:rPr lang="en-US" sz="3200" dirty="0" smtClean="0"/>
              <a:t>ECG analysis in the cloud </a:t>
            </a:r>
            <a:endParaRPr lang="en-US" sz="3200" dirty="0"/>
          </a:p>
        </p:txBody>
      </p:sp>
      <p:sp>
        <p:nvSpPr>
          <p:cNvPr id="3" name="Content Placeholder 2"/>
          <p:cNvSpPr>
            <a:spLocks noGrp="1"/>
          </p:cNvSpPr>
          <p:nvPr>
            <p:ph idx="1"/>
          </p:nvPr>
        </p:nvSpPr>
        <p:spPr>
          <a:xfrm>
            <a:off x="457200" y="1219200"/>
            <a:ext cx="8229600" cy="5791200"/>
          </a:xfrm>
        </p:spPr>
        <p:txBody>
          <a:bodyPr>
            <a:normAutofit fontScale="55000" lnSpcReduction="20000"/>
          </a:bodyPr>
          <a:lstStyle/>
          <a:p>
            <a:r>
              <a:rPr lang="en-US" dirty="0" smtClean="0"/>
              <a:t>Health care is a domain in which computer technology has found several and diverse applications</a:t>
            </a:r>
            <a:r>
              <a:rPr lang="en-US" dirty="0"/>
              <a:t>: </a:t>
            </a:r>
            <a:r>
              <a:rPr lang="en-US" dirty="0" smtClean="0"/>
              <a:t>from supporting the business functions to assisting scientists in developing solutions to cure diseases </a:t>
            </a:r>
          </a:p>
          <a:p>
            <a:r>
              <a:rPr lang="en-US" b="1" dirty="0" smtClean="0"/>
              <a:t>An </a:t>
            </a:r>
            <a:r>
              <a:rPr lang="en-US" b="1" dirty="0"/>
              <a:t>important application is the use of cloud technologies to support doctors in providing more effective diagnostic processes. </a:t>
            </a:r>
            <a:endParaRPr lang="en-US" b="1" dirty="0" smtClean="0"/>
          </a:p>
          <a:p>
            <a:pPr marL="0" indent="0">
              <a:buNone/>
            </a:pPr>
            <a:r>
              <a:rPr lang="en-US" dirty="0" smtClean="0"/>
              <a:t>In </a:t>
            </a:r>
            <a:r>
              <a:rPr lang="en-US" dirty="0"/>
              <a:t>particular, here we discuss </a:t>
            </a:r>
            <a:r>
              <a:rPr lang="en-US" b="1" dirty="0"/>
              <a:t>electrocardiogram</a:t>
            </a:r>
            <a:r>
              <a:rPr lang="en-US" dirty="0"/>
              <a:t> </a:t>
            </a:r>
            <a:r>
              <a:rPr lang="en-US" b="1" dirty="0"/>
              <a:t>(ECG) data analysis on the cloud </a:t>
            </a:r>
            <a:endParaRPr lang="en-US" b="1" dirty="0" smtClean="0"/>
          </a:p>
          <a:p>
            <a:r>
              <a:rPr lang="en-US" dirty="0" smtClean="0"/>
              <a:t>The </a:t>
            </a:r>
            <a:r>
              <a:rPr lang="en-US" dirty="0"/>
              <a:t>capillary </a:t>
            </a:r>
            <a:r>
              <a:rPr lang="en-US" b="1" dirty="0"/>
              <a:t>development of Internet connectivity </a:t>
            </a:r>
            <a:r>
              <a:rPr lang="en-US" dirty="0"/>
              <a:t>and its accessibility from any device at any time has made cloud technologies an attractive option for developing </a:t>
            </a:r>
            <a:r>
              <a:rPr lang="en-US" dirty="0">
                <a:solidFill>
                  <a:srgbClr val="FF0000"/>
                </a:solidFill>
              </a:rPr>
              <a:t>health-monitoring systems. </a:t>
            </a:r>
            <a:endParaRPr lang="en-US" dirty="0" smtClean="0">
              <a:solidFill>
                <a:srgbClr val="FF0000"/>
              </a:solidFill>
            </a:endParaRPr>
          </a:p>
          <a:p>
            <a:r>
              <a:rPr lang="en-US" dirty="0" smtClean="0"/>
              <a:t>ECG </a:t>
            </a:r>
            <a:r>
              <a:rPr lang="en-US" dirty="0"/>
              <a:t>data analysis and monitoring constitute a case that naturally fits into this scenario. </a:t>
            </a:r>
            <a:endParaRPr lang="en-US" dirty="0" smtClean="0"/>
          </a:p>
          <a:p>
            <a:r>
              <a:rPr lang="en-US" dirty="0" smtClean="0"/>
              <a:t>ECG </a:t>
            </a:r>
            <a:r>
              <a:rPr lang="en-US" dirty="0"/>
              <a:t>is the electrical manifestation of </a:t>
            </a:r>
            <a:r>
              <a:rPr lang="en-US" b="1" dirty="0"/>
              <a:t>the contractile activity of the heart’s myocardium.</a:t>
            </a:r>
            <a:r>
              <a:rPr lang="en-US" dirty="0"/>
              <a:t> This activity produces a specific waveform that is repeated over time and that represents the heartbeat. </a:t>
            </a:r>
            <a:endParaRPr lang="en-US" dirty="0" smtClean="0"/>
          </a:p>
          <a:p>
            <a:r>
              <a:rPr lang="en-US" dirty="0" smtClean="0"/>
              <a:t>The </a:t>
            </a:r>
            <a:r>
              <a:rPr lang="en-US" dirty="0"/>
              <a:t>analysis of the shape of the ECG waveform is used to identify </a:t>
            </a:r>
            <a:r>
              <a:rPr lang="en-US" b="1" dirty="0"/>
              <a:t>arrhythmias </a:t>
            </a:r>
            <a:r>
              <a:rPr lang="en-US" dirty="0"/>
              <a:t>and is the most </a:t>
            </a:r>
            <a:r>
              <a:rPr lang="en-US" b="1" dirty="0"/>
              <a:t>common way to detect heart disease</a:t>
            </a:r>
            <a:r>
              <a:rPr lang="en-US" b="1" dirty="0" smtClean="0"/>
              <a:t>.</a:t>
            </a:r>
          </a:p>
          <a:p>
            <a:r>
              <a:rPr lang="en-US" dirty="0" smtClean="0"/>
              <a:t> </a:t>
            </a:r>
            <a:r>
              <a:rPr lang="en-US" b="1" dirty="0"/>
              <a:t>Cloud computing technologies allow the remote monitoring of a patient’s heartbeat data, data analysis in minimal time, and the notification of first-aid personnel and doctors should these data reveal potentially dangerous conditions</a:t>
            </a:r>
            <a:r>
              <a:rPr lang="en-US" b="1" dirty="0" smtClean="0"/>
              <a:t>.</a:t>
            </a:r>
          </a:p>
          <a:p>
            <a:r>
              <a:rPr lang="en-US" dirty="0" smtClean="0"/>
              <a:t> </a:t>
            </a:r>
            <a:r>
              <a:rPr lang="en-US" dirty="0"/>
              <a:t>This way a patient at risk can be constantly monitored without going to a hospital for ECG analysis. At the same time, doctors and first-aid </a:t>
            </a:r>
            <a:r>
              <a:rPr lang="en-US" dirty="0" smtClean="0"/>
              <a:t>personnel </a:t>
            </a:r>
            <a:r>
              <a:rPr lang="en-US" dirty="0"/>
              <a:t>can instantly be notified of cases that require their attention. </a:t>
            </a:r>
            <a:r>
              <a:rPr lang="en-US" dirty="0" smtClean="0"/>
              <a:t> </a:t>
            </a:r>
            <a:endParaRPr lang="en-US" dirty="0"/>
          </a:p>
        </p:txBody>
      </p:sp>
    </p:spTree>
    <p:extLst>
      <p:ext uri="{BB962C8B-B14F-4D97-AF65-F5344CB8AC3E}">
        <p14:creationId xmlns:p14="http://schemas.microsoft.com/office/powerpoint/2010/main" val="4885591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7010400"/>
          </a:xfrm>
        </p:spPr>
        <p:txBody>
          <a:bodyPr>
            <a:normAutofit fontScale="62500" lnSpcReduction="20000"/>
          </a:bodyPr>
          <a:lstStyle/>
          <a:p>
            <a:pPr marL="0" indent="0" algn="ctr">
              <a:buNone/>
            </a:pPr>
            <a:r>
              <a:rPr lang="en-US" sz="4500" b="1" dirty="0" smtClean="0"/>
              <a:t>How ECG leverages on Cloud services </a:t>
            </a:r>
          </a:p>
          <a:p>
            <a:endParaRPr lang="en-US" dirty="0"/>
          </a:p>
          <a:p>
            <a:r>
              <a:rPr lang="en-US" dirty="0" smtClean="0"/>
              <a:t>Wearable </a:t>
            </a:r>
            <a:r>
              <a:rPr lang="en-US" dirty="0"/>
              <a:t>computing devices equipped with ECG sensors constantly monitor the patient’s heartbeat. </a:t>
            </a:r>
            <a:endParaRPr lang="en-US" dirty="0" smtClean="0"/>
          </a:p>
          <a:p>
            <a:r>
              <a:rPr lang="en-US" dirty="0" smtClean="0"/>
              <a:t>Such </a:t>
            </a:r>
            <a:r>
              <a:rPr lang="en-US" dirty="0"/>
              <a:t>information is transmitted to the patient’s mobile device, which will </a:t>
            </a:r>
            <a:r>
              <a:rPr lang="en-US" dirty="0" smtClean="0"/>
              <a:t>eventually </a:t>
            </a:r>
            <a:r>
              <a:rPr lang="en-US" dirty="0"/>
              <a:t>forward it to the cloud-hosted Web service for analysis</a:t>
            </a:r>
            <a:r>
              <a:rPr lang="en-US" dirty="0" smtClean="0"/>
              <a:t>.</a:t>
            </a:r>
          </a:p>
          <a:p>
            <a:r>
              <a:rPr lang="en-US" dirty="0" smtClean="0"/>
              <a:t> </a:t>
            </a:r>
            <a:r>
              <a:rPr lang="en-US" dirty="0"/>
              <a:t>The Web service forms the front-end of a platform that is entirely hosted in the cloud and that leverages the three layers of the cloud computing stack: </a:t>
            </a:r>
            <a:r>
              <a:rPr lang="en-US" dirty="0" err="1"/>
              <a:t>SaaS</a:t>
            </a:r>
            <a:r>
              <a:rPr lang="en-US" dirty="0"/>
              <a:t>, </a:t>
            </a:r>
            <a:r>
              <a:rPr lang="en-US" dirty="0" err="1"/>
              <a:t>PaaS</a:t>
            </a:r>
            <a:r>
              <a:rPr lang="en-US" dirty="0"/>
              <a:t>, and </a:t>
            </a:r>
            <a:r>
              <a:rPr lang="en-US" dirty="0" err="1"/>
              <a:t>IaaS</a:t>
            </a:r>
            <a:r>
              <a:rPr lang="en-US" dirty="0" smtClean="0"/>
              <a:t>.</a:t>
            </a:r>
          </a:p>
          <a:p>
            <a:r>
              <a:rPr lang="en-US" dirty="0" smtClean="0"/>
              <a:t> </a:t>
            </a:r>
            <a:r>
              <a:rPr lang="en-US" dirty="0"/>
              <a:t>The Web service constitute the </a:t>
            </a:r>
            <a:r>
              <a:rPr lang="en-US" dirty="0" err="1"/>
              <a:t>SaaS</a:t>
            </a:r>
            <a:r>
              <a:rPr lang="en-US" dirty="0"/>
              <a:t> application that will store ECG data in the Amazon S3 service and issue a processing request to the scalable cloud </a:t>
            </a:r>
            <a:r>
              <a:rPr lang="en-US" dirty="0" smtClean="0"/>
              <a:t>platform</a:t>
            </a:r>
            <a:r>
              <a:rPr lang="en-US" dirty="0"/>
              <a:t>. </a:t>
            </a:r>
            <a:endParaRPr lang="en-US" dirty="0" smtClean="0"/>
          </a:p>
          <a:p>
            <a:r>
              <a:rPr lang="en-US" dirty="0" smtClean="0"/>
              <a:t>The </a:t>
            </a:r>
            <a:r>
              <a:rPr lang="en-US" dirty="0"/>
              <a:t>runtime platform is composed of a dynamically sizable number of instances running the workflow engine </a:t>
            </a:r>
            <a:r>
              <a:rPr lang="en-US" dirty="0" smtClean="0"/>
              <a:t>and Aneka Cloud. </a:t>
            </a:r>
          </a:p>
          <a:p>
            <a:r>
              <a:rPr lang="en-US" dirty="0" smtClean="0"/>
              <a:t>The </a:t>
            </a:r>
            <a:r>
              <a:rPr lang="en-US" dirty="0"/>
              <a:t>number of workflow engine instances is controlled according to the number of requests in the queue of each instance, while Aneka controls the number of EC2 instances used to execute the single tasks defined by the workflow engine for a single ECG </a:t>
            </a:r>
            <a:r>
              <a:rPr lang="en-US" dirty="0" smtClean="0"/>
              <a:t>processing </a:t>
            </a:r>
            <a:r>
              <a:rPr lang="en-US" dirty="0"/>
              <a:t>job</a:t>
            </a:r>
            <a:r>
              <a:rPr lang="en-US" dirty="0" smtClean="0"/>
              <a:t>.</a:t>
            </a:r>
          </a:p>
          <a:p>
            <a:r>
              <a:rPr lang="en-US" dirty="0" smtClean="0"/>
              <a:t> </a:t>
            </a:r>
            <a:r>
              <a:rPr lang="en-US" b="1" dirty="0"/>
              <a:t>Each of these jobs consists of a set of operations involving the extraction of the waveform from the heartbeat data and the comparison of the waveform with a reference waveform to detect anomalies</a:t>
            </a:r>
            <a:r>
              <a:rPr lang="en-US" b="1" dirty="0" smtClean="0"/>
              <a:t>.</a:t>
            </a:r>
          </a:p>
          <a:p>
            <a:r>
              <a:rPr lang="en-US" b="1" dirty="0" smtClean="0"/>
              <a:t>If </a:t>
            </a:r>
            <a:r>
              <a:rPr lang="en-US" b="1" dirty="0"/>
              <a:t>anomalies are found, doctors and first-aid personnel can be notified to act on a specific patient. </a:t>
            </a:r>
            <a:endParaRPr lang="en-US" b="1" dirty="0" smtClean="0"/>
          </a:p>
          <a:p>
            <a:endParaRPr lang="en-US" dirty="0"/>
          </a:p>
        </p:txBody>
      </p:sp>
    </p:spTree>
    <p:extLst>
      <p:ext uri="{BB962C8B-B14F-4D97-AF65-F5344CB8AC3E}">
        <p14:creationId xmlns:p14="http://schemas.microsoft.com/office/powerpoint/2010/main" val="8078607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indent="0"/>
            <a:r>
              <a:rPr lang="en-US" sz="3200" b="1" dirty="0"/>
              <a:t>How ECG leverages on Cloud services </a:t>
            </a:r>
          </a:p>
        </p:txBody>
      </p:sp>
      <p:sp>
        <p:nvSpPr>
          <p:cNvPr id="3" name="Content Placeholder 2"/>
          <p:cNvSpPr>
            <a:spLocks noGrp="1"/>
          </p:cNvSpPr>
          <p:nvPr>
            <p:ph idx="1"/>
          </p:nvPr>
        </p:nvSpPr>
        <p:spPr/>
        <p:txBody>
          <a:bodyPr>
            <a:normAutofit fontScale="62500" lnSpcReduction="20000"/>
          </a:bodyPr>
          <a:lstStyle/>
          <a:p>
            <a:r>
              <a:rPr lang="en-US" dirty="0"/>
              <a:t>Even though remote ECG monitoring does not necessarily require cloud technologies, cloud computing introduces opportunities that would be otherwise hardly achievable. </a:t>
            </a:r>
          </a:p>
          <a:p>
            <a:r>
              <a:rPr lang="en-US" dirty="0"/>
              <a:t>The </a:t>
            </a:r>
            <a:r>
              <a:rPr lang="en-US" b="1" dirty="0"/>
              <a:t>first advantage </a:t>
            </a:r>
            <a:r>
              <a:rPr lang="en-US" dirty="0"/>
              <a:t>is the </a:t>
            </a:r>
            <a:r>
              <a:rPr lang="en-US" b="1" dirty="0"/>
              <a:t>elasticity</a:t>
            </a:r>
            <a:r>
              <a:rPr lang="en-US" dirty="0"/>
              <a:t> of the cloud infrastructure that can grow and shrink according to the requests served. As a result, doctors and hospitals do not have to invest in large computing infrastructures designed after capacity planning, thus making more effective use of budgets. </a:t>
            </a:r>
          </a:p>
          <a:p>
            <a:r>
              <a:rPr lang="en-US" dirty="0"/>
              <a:t>The </a:t>
            </a:r>
            <a:r>
              <a:rPr lang="en-US" b="1" dirty="0"/>
              <a:t>second advantage </a:t>
            </a:r>
            <a:r>
              <a:rPr lang="en-US" dirty="0"/>
              <a:t>is </a:t>
            </a:r>
            <a:r>
              <a:rPr lang="en-US" b="1" dirty="0"/>
              <a:t>ubiquity. </a:t>
            </a:r>
            <a:r>
              <a:rPr lang="en-US" dirty="0"/>
              <a:t>Cloud computing technologies have now become easily accessible and promise to deliver systems with minimum or no downtime. Computing systems hosted in the cloud are accessible from any Internet device through simple interfaces .</a:t>
            </a:r>
          </a:p>
          <a:p>
            <a:r>
              <a:rPr lang="en-US" dirty="0"/>
              <a:t>This makes these systems not only ubiquitous, but they can also be easily integrated with other systems maintained on the hospital’s premises</a:t>
            </a:r>
          </a:p>
        </p:txBody>
      </p:sp>
    </p:spTree>
    <p:extLst>
      <p:ext uri="{BB962C8B-B14F-4D97-AF65-F5344CB8AC3E}">
        <p14:creationId xmlns:p14="http://schemas.microsoft.com/office/powerpoint/2010/main" val="37539822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solidFill>
                  <a:srgbClr val="FF0000"/>
                </a:solidFill>
              </a:rPr>
              <a:t>Biology:</a:t>
            </a:r>
            <a:br>
              <a:rPr lang="en-US" sz="3200" dirty="0" smtClean="0">
                <a:solidFill>
                  <a:srgbClr val="FF0000"/>
                </a:solidFill>
              </a:rPr>
            </a:br>
            <a:r>
              <a:rPr lang="en-US" sz="3200" dirty="0" smtClean="0"/>
              <a:t>Protein Structure Prediction </a:t>
            </a:r>
            <a:endParaRPr lang="en-US" sz="3200" dirty="0"/>
          </a:p>
        </p:txBody>
      </p:sp>
      <p:sp>
        <p:nvSpPr>
          <p:cNvPr id="3" name="Content Placeholder 2"/>
          <p:cNvSpPr>
            <a:spLocks noGrp="1"/>
          </p:cNvSpPr>
          <p:nvPr>
            <p:ph idx="1"/>
          </p:nvPr>
        </p:nvSpPr>
        <p:spPr>
          <a:xfrm>
            <a:off x="228600" y="1371600"/>
            <a:ext cx="8229600" cy="5486400"/>
          </a:xfrm>
        </p:spPr>
        <p:txBody>
          <a:bodyPr>
            <a:normAutofit fontScale="32500" lnSpcReduction="20000"/>
          </a:bodyPr>
          <a:lstStyle/>
          <a:p>
            <a:r>
              <a:rPr lang="en-US" sz="5100" b="1" dirty="0" smtClean="0"/>
              <a:t>Applications in biology often require high computing capabilities and often operate on large data sets that cause extensive I/O operations. </a:t>
            </a:r>
          </a:p>
          <a:p>
            <a:r>
              <a:rPr lang="en-US" sz="5100" dirty="0" smtClean="0"/>
              <a:t>Because of these requirements, biology applications have often made extensive use of </a:t>
            </a:r>
            <a:r>
              <a:rPr lang="en-US" sz="5100" b="1" dirty="0" smtClean="0"/>
              <a:t>supercomputing and cluster computing infrastructures</a:t>
            </a:r>
            <a:r>
              <a:rPr lang="en-US" sz="5100" dirty="0" smtClean="0"/>
              <a:t>. Similar  capabilities can be leveraged on demand using cloud computing technologies in a more dynamic fashion</a:t>
            </a:r>
            <a:r>
              <a:rPr lang="en-US" sz="5100" dirty="0"/>
              <a:t>, thus </a:t>
            </a:r>
            <a:r>
              <a:rPr lang="en-US" sz="5100" dirty="0" smtClean="0"/>
              <a:t>opening new opportunities for bioinformatics applications</a:t>
            </a:r>
            <a:r>
              <a:rPr lang="en-US" sz="5100" dirty="0"/>
              <a:t>. </a:t>
            </a:r>
            <a:endParaRPr lang="en-US" sz="5100" dirty="0" smtClean="0"/>
          </a:p>
          <a:p>
            <a:r>
              <a:rPr lang="en-US" sz="5100" b="1" dirty="0" smtClean="0"/>
              <a:t>Protein structure prediction is a </a:t>
            </a:r>
            <a:r>
              <a:rPr lang="en-US" sz="5100" b="1" dirty="0"/>
              <a:t>computationally </a:t>
            </a:r>
            <a:r>
              <a:rPr lang="en-US" sz="5100" b="1" dirty="0" smtClean="0"/>
              <a:t>intensive task </a:t>
            </a:r>
            <a:r>
              <a:rPr lang="en-US" sz="5100" dirty="0" smtClean="0"/>
              <a:t>that is fundamental to different types of research in the life sciences. </a:t>
            </a:r>
          </a:p>
          <a:p>
            <a:r>
              <a:rPr lang="en-US" sz="5100" i="1" dirty="0" smtClean="0"/>
              <a:t>Among  these is the design of new drugs for the treatment </a:t>
            </a:r>
            <a:r>
              <a:rPr lang="en-US" sz="5100" i="1" dirty="0"/>
              <a:t>of diseases</a:t>
            </a:r>
            <a:r>
              <a:rPr lang="en-US" sz="5100" i="1" dirty="0" smtClean="0"/>
              <a:t>. </a:t>
            </a:r>
            <a:r>
              <a:rPr lang="en-US" sz="5100" dirty="0" smtClean="0"/>
              <a:t>The geometric structure of a protein cannot be directly inferred from the sequence of genes that compose its structure, but it is the result of complex computations aimed at identifying the structure that minimizes the required energy</a:t>
            </a:r>
            <a:r>
              <a:rPr lang="en-US" sz="5100" dirty="0"/>
              <a:t>. </a:t>
            </a:r>
            <a:r>
              <a:rPr lang="en-US" sz="5100" dirty="0" smtClean="0"/>
              <a:t> This task requires the investigation of a space </a:t>
            </a:r>
            <a:r>
              <a:rPr lang="en-US" sz="5100" dirty="0"/>
              <a:t>with </a:t>
            </a:r>
            <a:r>
              <a:rPr lang="en-US" sz="5100" dirty="0" smtClean="0"/>
              <a:t>a massive number of states, consequently creating a large number of computations for each </a:t>
            </a:r>
            <a:r>
              <a:rPr lang="en-US" sz="5100" dirty="0"/>
              <a:t>of </a:t>
            </a:r>
            <a:r>
              <a:rPr lang="en-US" sz="5100" dirty="0" smtClean="0"/>
              <a:t>these states.</a:t>
            </a:r>
          </a:p>
          <a:p>
            <a:r>
              <a:rPr lang="en-US" sz="5100" b="1" dirty="0" smtClean="0"/>
              <a:t>The computational power required for protein structure prediction can now be </a:t>
            </a:r>
            <a:r>
              <a:rPr lang="en-US" sz="5100" b="1" dirty="0"/>
              <a:t>acquired </a:t>
            </a:r>
            <a:r>
              <a:rPr lang="en-US" sz="5100" b="1" dirty="0" smtClean="0"/>
              <a:t>on demand, with out owning a cluster </a:t>
            </a:r>
            <a:r>
              <a:rPr lang="en-US" sz="5100" b="1" dirty="0"/>
              <a:t>or </a:t>
            </a:r>
            <a:r>
              <a:rPr lang="en-US" sz="5100" b="1" dirty="0" smtClean="0"/>
              <a:t>navigating the bureaucracy to get access to </a:t>
            </a:r>
          </a:p>
          <a:p>
            <a:r>
              <a:rPr lang="en-US" sz="5100" dirty="0"/>
              <a:t>The </a:t>
            </a:r>
            <a:r>
              <a:rPr lang="en-US" sz="5100" b="1" dirty="0"/>
              <a:t>advantage </a:t>
            </a:r>
            <a:r>
              <a:rPr lang="en-US" sz="5100" dirty="0"/>
              <a:t>of using cloud technologies </a:t>
            </a:r>
            <a:r>
              <a:rPr lang="en-US" sz="5100" dirty="0" smtClean="0"/>
              <a:t>versus </a:t>
            </a:r>
            <a:r>
              <a:rPr lang="en-US" sz="5100" dirty="0"/>
              <a:t>conventional grid infrastructures is the capability to leverage a scalable computing infrastructure that can be grown and shrunk on demand. </a:t>
            </a:r>
            <a:endParaRPr lang="en-US" sz="5100" dirty="0" smtClean="0"/>
          </a:p>
          <a:p>
            <a:r>
              <a:rPr lang="en-US" sz="5100" dirty="0" smtClean="0"/>
              <a:t>This </a:t>
            </a:r>
            <a:r>
              <a:rPr lang="en-US" sz="5100" dirty="0"/>
              <a:t>concept is distinctive of cloud technologies and constitutes a strategic advantage when applications are offered and delivered as a service</a:t>
            </a:r>
            <a:r>
              <a:rPr lang="en-US" dirty="0"/>
              <a:t>. </a:t>
            </a:r>
          </a:p>
        </p:txBody>
      </p:sp>
    </p:spTree>
    <p:extLst>
      <p:ext uri="{BB962C8B-B14F-4D97-AF65-F5344CB8AC3E}">
        <p14:creationId xmlns:p14="http://schemas.microsoft.com/office/powerpoint/2010/main" val="22739855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3855"/>
            <a:ext cx="8229600" cy="1143000"/>
          </a:xfrm>
        </p:spPr>
        <p:txBody>
          <a:bodyPr>
            <a:normAutofit/>
          </a:bodyPr>
          <a:lstStyle/>
          <a:p>
            <a:r>
              <a:rPr lang="en-US" sz="2400" dirty="0" smtClean="0">
                <a:solidFill>
                  <a:srgbClr val="FF0000"/>
                </a:solidFill>
              </a:rPr>
              <a:t>Biology:</a:t>
            </a:r>
            <a:r>
              <a:rPr lang="en-US" sz="2400" dirty="0" smtClean="0"/>
              <a:t/>
            </a:r>
            <a:br>
              <a:rPr lang="en-US" sz="2400" dirty="0" smtClean="0"/>
            </a:br>
            <a:r>
              <a:rPr lang="en-US" sz="2400" dirty="0" smtClean="0"/>
              <a:t>Gene expression data analysis for cancer diagnosis </a:t>
            </a:r>
            <a:endParaRPr lang="en-US" sz="2400" dirty="0"/>
          </a:p>
        </p:txBody>
      </p:sp>
      <p:sp>
        <p:nvSpPr>
          <p:cNvPr id="3" name="Content Placeholder 2"/>
          <p:cNvSpPr>
            <a:spLocks noGrp="1"/>
          </p:cNvSpPr>
          <p:nvPr>
            <p:ph idx="1"/>
          </p:nvPr>
        </p:nvSpPr>
        <p:spPr>
          <a:xfrm>
            <a:off x="381000" y="908720"/>
            <a:ext cx="8229600" cy="5867400"/>
          </a:xfrm>
        </p:spPr>
        <p:txBody>
          <a:bodyPr>
            <a:normAutofit fontScale="62500" lnSpcReduction="20000"/>
          </a:bodyPr>
          <a:lstStyle/>
          <a:p>
            <a:r>
              <a:rPr lang="en-US" dirty="0" smtClean="0"/>
              <a:t>Gene expression profiling is the measurement of the expression levels of thousands of genes  at </a:t>
            </a:r>
            <a:r>
              <a:rPr lang="en-US" dirty="0"/>
              <a:t>once. </a:t>
            </a:r>
            <a:endParaRPr lang="en-US" dirty="0" smtClean="0"/>
          </a:p>
          <a:p>
            <a:r>
              <a:rPr lang="en-US" dirty="0" smtClean="0"/>
              <a:t>It is used to understand the biological processes that are triggered by medical treatment at a cellular level.</a:t>
            </a:r>
          </a:p>
          <a:p>
            <a:r>
              <a:rPr lang="en-US" dirty="0" smtClean="0"/>
              <a:t>Together with protein structure prediction, this activity is a </a:t>
            </a:r>
            <a:r>
              <a:rPr lang="en-US" b="1" dirty="0" smtClean="0"/>
              <a:t>fundamental component </a:t>
            </a:r>
            <a:r>
              <a:rPr lang="en-US" b="1" dirty="0"/>
              <a:t>of </a:t>
            </a:r>
            <a:r>
              <a:rPr lang="en-US" b="1" dirty="0" smtClean="0"/>
              <a:t>drug design</a:t>
            </a:r>
            <a:r>
              <a:rPr lang="en-US" dirty="0" smtClean="0"/>
              <a:t>, since it allows scientists to identify the effects of a specific treatment</a:t>
            </a:r>
            <a:r>
              <a:rPr lang="en-US" dirty="0"/>
              <a:t>. </a:t>
            </a:r>
            <a:endParaRPr lang="en-US" dirty="0" smtClean="0"/>
          </a:p>
          <a:p>
            <a:r>
              <a:rPr lang="en-US" dirty="0" smtClean="0"/>
              <a:t>Another important application of gene expression profiling is </a:t>
            </a:r>
            <a:r>
              <a:rPr lang="en-US" b="1" dirty="0" smtClean="0"/>
              <a:t>cancer diagnosis and treatment</a:t>
            </a:r>
            <a:r>
              <a:rPr lang="en-US" b="1" dirty="0"/>
              <a:t>. </a:t>
            </a:r>
            <a:r>
              <a:rPr lang="en-US" dirty="0" smtClean="0"/>
              <a:t>Cancer is a disease characterized by uncontrolled cell growth and proliferation.</a:t>
            </a:r>
          </a:p>
          <a:p>
            <a:r>
              <a:rPr lang="en-US" dirty="0" smtClean="0"/>
              <a:t>This behavior occurs because genes regulating the cell growth mutate.</a:t>
            </a:r>
          </a:p>
          <a:p>
            <a:r>
              <a:rPr lang="en-US" dirty="0" smtClean="0"/>
              <a:t>This means that all the cancerous cells contain mutated genes.</a:t>
            </a:r>
          </a:p>
          <a:p>
            <a:r>
              <a:rPr lang="en-US" dirty="0" smtClean="0"/>
              <a:t>In this context, gene expression profiling is utilized to provide a more accurate classification of tumors.</a:t>
            </a:r>
          </a:p>
          <a:p>
            <a:r>
              <a:rPr lang="en-US" dirty="0" smtClean="0"/>
              <a:t>The classification of gene expression data samples into distinct classes </a:t>
            </a:r>
            <a:r>
              <a:rPr lang="en-US" dirty="0"/>
              <a:t>is </a:t>
            </a:r>
            <a:r>
              <a:rPr lang="en-US" dirty="0" smtClean="0"/>
              <a:t>a challenging task. The dimensionality of typical gene expression data sets ranges from several strategies, which define the way the outcomes are composed together and whether the process </a:t>
            </a:r>
            <a:r>
              <a:rPr lang="en-US" dirty="0"/>
              <a:t>needs </a:t>
            </a:r>
            <a:r>
              <a:rPr lang="en-US" dirty="0" smtClean="0"/>
              <a:t>to be iterated.</a:t>
            </a:r>
          </a:p>
          <a:p>
            <a:r>
              <a:rPr lang="en-US" dirty="0" smtClean="0"/>
              <a:t> </a:t>
            </a:r>
            <a:r>
              <a:rPr lang="en-US" b="1" dirty="0"/>
              <a:t>Because of the dynamic nature of </a:t>
            </a:r>
            <a:r>
              <a:rPr lang="en-US" b="1" dirty="0" smtClean="0"/>
              <a:t>this process, </a:t>
            </a:r>
            <a:r>
              <a:rPr lang="en-US" b="1" dirty="0"/>
              <a:t>the number of required compute resources to execute it can vary over time. Therefore, the use of scalable </a:t>
            </a:r>
            <a:r>
              <a:rPr lang="en-US" b="1" dirty="0" smtClean="0"/>
              <a:t>features of the  cloud </a:t>
            </a:r>
            <a:r>
              <a:rPr lang="en-US" b="1" dirty="0"/>
              <a:t>offers a distinctive advantage. </a:t>
            </a:r>
          </a:p>
        </p:txBody>
      </p:sp>
    </p:spTree>
    <p:extLst>
      <p:ext uri="{BB962C8B-B14F-4D97-AF65-F5344CB8AC3E}">
        <p14:creationId xmlns:p14="http://schemas.microsoft.com/office/powerpoint/2010/main" val="9779066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39762"/>
          </a:xfrm>
        </p:spPr>
        <p:txBody>
          <a:bodyPr>
            <a:noAutofit/>
          </a:bodyPr>
          <a:lstStyle/>
          <a:p>
            <a:r>
              <a:rPr lang="en-US" sz="2800" dirty="0" smtClean="0">
                <a:solidFill>
                  <a:srgbClr val="FF0000"/>
                </a:solidFill>
              </a:rPr>
              <a:t>Geo-Science: </a:t>
            </a:r>
            <a:r>
              <a:rPr lang="en-US" sz="2800" dirty="0" smtClean="0"/>
              <a:t>Satellite image processing </a:t>
            </a:r>
            <a:endParaRPr lang="en-US" sz="2800" dirty="0"/>
          </a:p>
        </p:txBody>
      </p:sp>
      <p:sp>
        <p:nvSpPr>
          <p:cNvPr id="3" name="Content Placeholder 2"/>
          <p:cNvSpPr>
            <a:spLocks noGrp="1"/>
          </p:cNvSpPr>
          <p:nvPr>
            <p:ph idx="1"/>
          </p:nvPr>
        </p:nvSpPr>
        <p:spPr>
          <a:xfrm>
            <a:off x="152400" y="762000"/>
            <a:ext cx="8229600" cy="7010400"/>
          </a:xfrm>
        </p:spPr>
        <p:txBody>
          <a:bodyPr>
            <a:normAutofit fontScale="55000" lnSpcReduction="20000"/>
          </a:bodyPr>
          <a:lstStyle/>
          <a:p>
            <a:r>
              <a:rPr lang="en-US" dirty="0" smtClean="0"/>
              <a:t>Geoscience applications collect, produce, and analyze massive amounts of geospatial and non spatial </a:t>
            </a:r>
            <a:r>
              <a:rPr lang="en-US" dirty="0"/>
              <a:t>data. </a:t>
            </a:r>
            <a:r>
              <a:rPr lang="en-US" dirty="0" smtClean="0"/>
              <a:t>As the technology progresses and our planet becomes more instrumented (</a:t>
            </a:r>
            <a:r>
              <a:rPr lang="en-US" dirty="0" err="1" smtClean="0"/>
              <a:t>i.e</a:t>
            </a:r>
            <a:r>
              <a:rPr lang="en-US" dirty="0" err="1"/>
              <a:t>.,</a:t>
            </a:r>
            <a:r>
              <a:rPr lang="en-US" dirty="0" err="1" smtClean="0"/>
              <a:t>through</a:t>
            </a:r>
            <a:r>
              <a:rPr lang="en-US" dirty="0" smtClean="0"/>
              <a:t> the deployment of sensors and satellites for monitoring), the volume of data that needs to be processed increases significantly.</a:t>
            </a:r>
          </a:p>
          <a:p>
            <a:r>
              <a:rPr lang="en-US" dirty="0" smtClean="0"/>
              <a:t>In particular, the </a:t>
            </a:r>
            <a:r>
              <a:rPr lang="en-US" b="1" dirty="0" smtClean="0"/>
              <a:t>geographic information system (GIS) is </a:t>
            </a:r>
            <a:r>
              <a:rPr lang="en-US" dirty="0" smtClean="0"/>
              <a:t>a major element </a:t>
            </a:r>
            <a:r>
              <a:rPr lang="en-US" dirty="0"/>
              <a:t>of </a:t>
            </a:r>
            <a:r>
              <a:rPr lang="en-US" dirty="0" smtClean="0"/>
              <a:t>geoscience applications.</a:t>
            </a:r>
          </a:p>
          <a:p>
            <a:r>
              <a:rPr lang="en-US" b="1" dirty="0" smtClean="0"/>
              <a:t>GIS applications capture, store, manipulate, analyze, manage, and present all types of geographically referenced data.</a:t>
            </a:r>
          </a:p>
          <a:p>
            <a:r>
              <a:rPr lang="en-US" dirty="0" smtClean="0"/>
              <a:t>This type of information is now becoming increasingly relevant to a wide variety of application domains: from advanced farming to civil security </a:t>
            </a:r>
            <a:r>
              <a:rPr lang="en-US" dirty="0"/>
              <a:t>and </a:t>
            </a:r>
            <a:r>
              <a:rPr lang="en-US" dirty="0" smtClean="0"/>
              <a:t>natural resources management.</a:t>
            </a:r>
          </a:p>
          <a:p>
            <a:r>
              <a:rPr lang="en-US" dirty="0" smtClean="0"/>
              <a:t>As a result, a considerable amount of geo referenced data is ingested in to computer systems for further processing and analysis.</a:t>
            </a:r>
          </a:p>
          <a:p>
            <a:r>
              <a:rPr lang="en-US" dirty="0" smtClean="0"/>
              <a:t>Cloud computing is an attractive option for executing these demanding tasks and extracting meaningful information to support decision makers</a:t>
            </a:r>
            <a:r>
              <a:rPr lang="en-US" dirty="0"/>
              <a:t>. </a:t>
            </a:r>
            <a:r>
              <a:rPr lang="en-US" dirty="0" smtClean="0"/>
              <a:t>Satellite remote sensing generates </a:t>
            </a:r>
            <a:r>
              <a:rPr lang="en-US" b="1" dirty="0" smtClean="0"/>
              <a:t>hundreds of gigabytes </a:t>
            </a:r>
            <a:r>
              <a:rPr lang="en-US" dirty="0" smtClean="0"/>
              <a:t>of raw images that need to be further processed to become the basis of several different GIS products.</a:t>
            </a:r>
          </a:p>
          <a:p>
            <a:r>
              <a:rPr lang="en-US" b="1" dirty="0" smtClean="0"/>
              <a:t>This process requires both I/O and compute intensive tasks.</a:t>
            </a:r>
          </a:p>
          <a:p>
            <a:r>
              <a:rPr lang="en-US" dirty="0" smtClean="0"/>
              <a:t>Large images need to be moved from a ground station’s local storage to compute facilities, where several transformations and corrections are applied.</a:t>
            </a:r>
          </a:p>
          <a:p>
            <a:r>
              <a:rPr lang="en-US" b="1" dirty="0" smtClean="0"/>
              <a:t>Cloud computing provides the appropriate infrastructure to support such application scenarios.  </a:t>
            </a:r>
          </a:p>
          <a:p>
            <a:r>
              <a:rPr lang="en-US" dirty="0" smtClean="0"/>
              <a:t>A cloud based implementation of such a work flow has been developed by the Department of Space, Government of India.</a:t>
            </a:r>
            <a:endParaRPr lang="en-US" dirty="0"/>
          </a:p>
        </p:txBody>
      </p:sp>
    </p:spTree>
    <p:extLst>
      <p:ext uri="{BB962C8B-B14F-4D97-AF65-F5344CB8AC3E}">
        <p14:creationId xmlns:p14="http://schemas.microsoft.com/office/powerpoint/2010/main" val="42681101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solidFill>
                  <a:srgbClr val="00B0F0"/>
                </a:solidFill>
              </a:rPr>
              <a:t>2. BUSINESS AND CONSUMER APPLICATIONS </a:t>
            </a:r>
            <a:endParaRPr lang="en-US" sz="3200" dirty="0">
              <a:solidFill>
                <a:srgbClr val="00B0F0"/>
              </a:solidFill>
            </a:endParaRPr>
          </a:p>
        </p:txBody>
      </p:sp>
      <p:sp>
        <p:nvSpPr>
          <p:cNvPr id="3" name="Content Placeholder 2"/>
          <p:cNvSpPr>
            <a:spLocks noGrp="1"/>
          </p:cNvSpPr>
          <p:nvPr>
            <p:ph idx="1"/>
          </p:nvPr>
        </p:nvSpPr>
        <p:spPr>
          <a:xfrm>
            <a:off x="457200" y="1600200"/>
            <a:ext cx="8229600" cy="5105400"/>
          </a:xfrm>
        </p:spPr>
        <p:txBody>
          <a:bodyPr>
            <a:normAutofit fontScale="70000" lnSpcReduction="20000"/>
          </a:bodyPr>
          <a:lstStyle/>
          <a:p>
            <a:r>
              <a:rPr lang="en-US" dirty="0" smtClean="0"/>
              <a:t>The business and consumer sector is the one that probably benefits the most from cloud computing </a:t>
            </a:r>
            <a:r>
              <a:rPr lang="en-US" dirty="0"/>
              <a:t>technologies</a:t>
            </a:r>
            <a:r>
              <a:rPr lang="en-US" dirty="0" smtClean="0"/>
              <a:t>. </a:t>
            </a:r>
          </a:p>
          <a:p>
            <a:r>
              <a:rPr lang="en-US" dirty="0" smtClean="0"/>
              <a:t>On one hand, the opportunity to </a:t>
            </a:r>
            <a:r>
              <a:rPr lang="en-US" b="1" dirty="0" smtClean="0"/>
              <a:t>transform capital costs </a:t>
            </a:r>
            <a:r>
              <a:rPr lang="en-US" dirty="0" smtClean="0"/>
              <a:t>into </a:t>
            </a:r>
            <a:r>
              <a:rPr lang="en-US" b="1" dirty="0" smtClean="0"/>
              <a:t>operational costs </a:t>
            </a:r>
            <a:r>
              <a:rPr lang="en-US" dirty="0" smtClean="0"/>
              <a:t>makes clouds an attractive option for all enterprises that are IT centric. </a:t>
            </a:r>
          </a:p>
          <a:p>
            <a:r>
              <a:rPr lang="en-US" dirty="0" smtClean="0"/>
              <a:t>On the other hand, the sense of </a:t>
            </a:r>
            <a:r>
              <a:rPr lang="en-US" b="1" dirty="0" smtClean="0"/>
              <a:t>ubiquity</a:t>
            </a:r>
            <a:r>
              <a:rPr lang="en-US" dirty="0" smtClean="0"/>
              <a:t> that the cloud offers for accessing data and services makes it interesting for end users as </a:t>
            </a:r>
            <a:r>
              <a:rPr lang="en-US" dirty="0"/>
              <a:t>well</a:t>
            </a:r>
            <a:r>
              <a:rPr lang="en-US" dirty="0" smtClean="0"/>
              <a:t>.</a:t>
            </a:r>
          </a:p>
          <a:p>
            <a:r>
              <a:rPr lang="en-US" dirty="0" smtClean="0"/>
              <a:t>Moreover, the </a:t>
            </a:r>
            <a:r>
              <a:rPr lang="en-US" b="1" dirty="0" smtClean="0"/>
              <a:t>elastic</a:t>
            </a:r>
            <a:r>
              <a:rPr lang="en-US" dirty="0" smtClean="0"/>
              <a:t> nature of cloud technologies </a:t>
            </a:r>
            <a:r>
              <a:rPr lang="en-US" b="1" dirty="0" smtClean="0"/>
              <a:t>does not require huge upfront investments</a:t>
            </a:r>
            <a:r>
              <a:rPr lang="en-US" b="1" dirty="0"/>
              <a:t>, </a:t>
            </a:r>
            <a:r>
              <a:rPr lang="en-US" dirty="0"/>
              <a:t>thus </a:t>
            </a:r>
            <a:r>
              <a:rPr lang="en-US" dirty="0" smtClean="0"/>
              <a:t>allowing new ideas to be quickly translated into products and services that can comfortably </a:t>
            </a:r>
            <a:r>
              <a:rPr lang="en-US" dirty="0"/>
              <a:t>grow </a:t>
            </a:r>
            <a:r>
              <a:rPr lang="en-US" dirty="0" smtClean="0"/>
              <a:t>with the demand. </a:t>
            </a:r>
          </a:p>
          <a:p>
            <a:r>
              <a:rPr lang="en-US" dirty="0" smtClean="0"/>
              <a:t>The combination of all these elements has made cloud computing the </a:t>
            </a:r>
            <a:r>
              <a:rPr lang="en-US" dirty="0"/>
              <a:t>preferred technology for a wide range of applications, from </a:t>
            </a:r>
            <a:r>
              <a:rPr lang="en-US" b="1" dirty="0"/>
              <a:t>CRM </a:t>
            </a:r>
            <a:r>
              <a:rPr lang="en-US" dirty="0"/>
              <a:t>and</a:t>
            </a:r>
            <a:r>
              <a:rPr lang="en-US" b="1" dirty="0"/>
              <a:t> ERP </a:t>
            </a:r>
            <a:r>
              <a:rPr lang="en-US" dirty="0"/>
              <a:t>systems to </a:t>
            </a:r>
            <a:r>
              <a:rPr lang="en-US" b="1" dirty="0"/>
              <a:t>productivity</a:t>
            </a:r>
            <a:r>
              <a:rPr lang="en-US" dirty="0"/>
              <a:t> and </a:t>
            </a:r>
            <a:r>
              <a:rPr lang="en-US" b="1" dirty="0"/>
              <a:t>social-networking applications. </a:t>
            </a:r>
          </a:p>
        </p:txBody>
      </p:sp>
    </p:spTree>
    <p:extLst>
      <p:ext uri="{BB962C8B-B14F-4D97-AF65-F5344CB8AC3E}">
        <p14:creationId xmlns:p14="http://schemas.microsoft.com/office/powerpoint/2010/main" val="25931473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3200" dirty="0" smtClean="0"/>
              <a:t>CRM and ERP</a:t>
            </a:r>
            <a:endParaRPr lang="en-US" sz="3200" dirty="0"/>
          </a:p>
        </p:txBody>
      </p:sp>
      <p:sp>
        <p:nvSpPr>
          <p:cNvPr id="3" name="Content Placeholder 2"/>
          <p:cNvSpPr>
            <a:spLocks noGrp="1"/>
          </p:cNvSpPr>
          <p:nvPr>
            <p:ph idx="1"/>
          </p:nvPr>
        </p:nvSpPr>
        <p:spPr>
          <a:xfrm>
            <a:off x="381000" y="1066800"/>
            <a:ext cx="8229600" cy="5257800"/>
          </a:xfrm>
        </p:spPr>
        <p:txBody>
          <a:bodyPr>
            <a:noAutofit/>
          </a:bodyPr>
          <a:lstStyle/>
          <a:p>
            <a:r>
              <a:rPr lang="en-US" sz="1800" b="1" dirty="0" smtClean="0"/>
              <a:t>CRM and ERP Customer Relationship Management (CRM) And Enterprise Resource Planning (ERP) </a:t>
            </a:r>
            <a:r>
              <a:rPr lang="en-US" sz="1800" dirty="0"/>
              <a:t>applications are </a:t>
            </a:r>
            <a:r>
              <a:rPr lang="en-US" sz="1800" dirty="0" smtClean="0"/>
              <a:t>market segments that are flourishing in the cloud , with CRM applications the more mature of </a:t>
            </a:r>
            <a:r>
              <a:rPr lang="en-US" sz="1800" dirty="0"/>
              <a:t>the two</a:t>
            </a:r>
            <a:r>
              <a:rPr lang="en-US" sz="1800" dirty="0" smtClean="0"/>
              <a:t>.</a:t>
            </a:r>
          </a:p>
          <a:p>
            <a:r>
              <a:rPr lang="en-US" sz="1800" dirty="0" smtClean="0"/>
              <a:t>Cloud CRM applications constitute a great opportunity for small enterprises and start-ups </a:t>
            </a:r>
            <a:r>
              <a:rPr lang="en-US" sz="1800" dirty="0"/>
              <a:t>to </a:t>
            </a:r>
            <a:r>
              <a:rPr lang="en-US" sz="1800" dirty="0" smtClean="0"/>
              <a:t>have fully functional CRM software without large up-front costs and by paying subscriptions</a:t>
            </a:r>
            <a:r>
              <a:rPr lang="en-US" sz="1800" dirty="0"/>
              <a:t>. </a:t>
            </a:r>
            <a:r>
              <a:rPr lang="en-US" sz="1800" b="1" dirty="0"/>
              <a:t>Moreover</a:t>
            </a:r>
            <a:r>
              <a:rPr lang="en-US" sz="1800" b="1" dirty="0" smtClean="0"/>
              <a:t>, CRM is not an activity that requires specific needs, and it can be easily moved to the </a:t>
            </a:r>
            <a:r>
              <a:rPr lang="en-US" sz="1800" b="1" dirty="0"/>
              <a:t>cloud</a:t>
            </a:r>
            <a:r>
              <a:rPr lang="en-US" sz="1800" b="1" dirty="0" smtClean="0"/>
              <a:t>.</a:t>
            </a:r>
          </a:p>
          <a:p>
            <a:r>
              <a:rPr lang="en-US" sz="1800" b="1" dirty="0" smtClean="0"/>
              <a:t>Such a characteristic, together with the possibility of having access to your business and customer data from everywhere and from any device, has fostered the spread of cloud CRM applications</a:t>
            </a:r>
            <a:r>
              <a:rPr lang="en-US" sz="1800" b="1" dirty="0"/>
              <a:t>. </a:t>
            </a:r>
            <a:endParaRPr lang="en-US" sz="1800" b="1" dirty="0" smtClean="0"/>
          </a:p>
          <a:p>
            <a:r>
              <a:rPr lang="en-US" sz="1800" dirty="0" smtClean="0"/>
              <a:t>ERP solutions on the cloud are less mature and have to compete with well-established in house solutions. </a:t>
            </a:r>
          </a:p>
          <a:p>
            <a:r>
              <a:rPr lang="en-US" sz="1800" dirty="0" smtClean="0"/>
              <a:t>ERP systems integrate several aspects of an enterprise: finance and accounting,  human resources, manufacturing, supply chain management, project management, and CRM. Their </a:t>
            </a:r>
            <a:r>
              <a:rPr lang="en-US" sz="1800" dirty="0"/>
              <a:t>goal </a:t>
            </a:r>
            <a:r>
              <a:rPr lang="en-US" sz="1800" dirty="0" smtClean="0"/>
              <a:t>is to provide a uniform view and access to all operations that need to be performed to sustain </a:t>
            </a:r>
            <a:r>
              <a:rPr lang="en-US" sz="1800" dirty="0"/>
              <a:t>a </a:t>
            </a:r>
            <a:r>
              <a:rPr lang="en-US" sz="1800" dirty="0" smtClean="0"/>
              <a:t>complex organization. Cloud </a:t>
            </a:r>
            <a:r>
              <a:rPr lang="en-US" sz="1800" dirty="0"/>
              <a:t>ERP solutions are less popular than CRM solutions at this time. </a:t>
            </a:r>
          </a:p>
        </p:txBody>
      </p:sp>
    </p:spTree>
    <p:extLst>
      <p:ext uri="{BB962C8B-B14F-4D97-AF65-F5344CB8AC3E}">
        <p14:creationId xmlns:p14="http://schemas.microsoft.com/office/powerpoint/2010/main" val="38543409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normAutofit/>
          </a:bodyPr>
          <a:lstStyle/>
          <a:p>
            <a:r>
              <a:rPr lang="en-US" dirty="0" smtClean="0">
                <a:solidFill>
                  <a:srgbClr val="FF0000"/>
                </a:solidFill>
              </a:rPr>
              <a:t>CRM-</a:t>
            </a:r>
            <a:r>
              <a:rPr lang="en-US" dirty="0" smtClean="0"/>
              <a:t> Salesforce.com  </a:t>
            </a:r>
            <a:endParaRPr lang="en-US" dirty="0"/>
          </a:p>
        </p:txBody>
      </p:sp>
      <p:sp>
        <p:nvSpPr>
          <p:cNvPr id="3" name="Content Placeholder 2"/>
          <p:cNvSpPr>
            <a:spLocks noGrp="1"/>
          </p:cNvSpPr>
          <p:nvPr>
            <p:ph idx="1"/>
          </p:nvPr>
        </p:nvSpPr>
        <p:spPr/>
        <p:txBody>
          <a:bodyPr>
            <a:normAutofit fontScale="70000" lnSpcReduction="20000"/>
          </a:bodyPr>
          <a:lstStyle/>
          <a:p>
            <a:r>
              <a:rPr lang="en-US" dirty="0"/>
              <a:t>Salesforce.com Salesforce.com is </a:t>
            </a:r>
            <a:r>
              <a:rPr lang="en-US" dirty="0" smtClean="0"/>
              <a:t>probably the most popular and developed CRM solution available today. </a:t>
            </a:r>
          </a:p>
          <a:p>
            <a:r>
              <a:rPr lang="en-US" dirty="0" smtClean="0"/>
              <a:t>As of today more than </a:t>
            </a:r>
            <a:r>
              <a:rPr lang="en-US" b="1" dirty="0" smtClean="0"/>
              <a:t>100,000 customers </a:t>
            </a:r>
            <a:r>
              <a:rPr lang="en-US" dirty="0" smtClean="0"/>
              <a:t>have chosen Safesforce.com to implement their CRM  solutions</a:t>
            </a:r>
            <a:r>
              <a:rPr lang="en-US" dirty="0"/>
              <a:t>. </a:t>
            </a:r>
            <a:endParaRPr lang="en-US" dirty="0" smtClean="0"/>
          </a:p>
          <a:p>
            <a:r>
              <a:rPr lang="en-US" dirty="0" smtClean="0"/>
              <a:t>The application provides customizable CRM solutions that can be integrated with additional features developed by third parties</a:t>
            </a:r>
            <a:r>
              <a:rPr lang="en-US" dirty="0"/>
              <a:t>. </a:t>
            </a:r>
            <a:endParaRPr lang="en-US" dirty="0" smtClean="0"/>
          </a:p>
          <a:p>
            <a:r>
              <a:rPr lang="en-US" dirty="0" smtClean="0"/>
              <a:t>Salesforce.com </a:t>
            </a:r>
            <a:r>
              <a:rPr lang="en-US" dirty="0"/>
              <a:t>is </a:t>
            </a:r>
            <a:r>
              <a:rPr lang="en-US" dirty="0" smtClean="0"/>
              <a:t>based on the </a:t>
            </a:r>
            <a:r>
              <a:rPr lang="en-US" dirty="0"/>
              <a:t>Force.com </a:t>
            </a:r>
            <a:r>
              <a:rPr lang="en-US" dirty="0" smtClean="0"/>
              <a:t>cloud development platform</a:t>
            </a:r>
            <a:r>
              <a:rPr lang="en-US" dirty="0"/>
              <a:t>. </a:t>
            </a:r>
            <a:endParaRPr lang="en-US" dirty="0" smtClean="0"/>
          </a:p>
          <a:p>
            <a:r>
              <a:rPr lang="en-US" dirty="0" smtClean="0"/>
              <a:t>This represents scalable and high performance middleware executing all the operations of all </a:t>
            </a:r>
            <a:r>
              <a:rPr lang="en-US" dirty="0"/>
              <a:t>Salesforce.com applications. </a:t>
            </a:r>
            <a:r>
              <a:rPr lang="en-US" dirty="0" smtClean="0"/>
              <a:t/>
            </a:r>
            <a:br>
              <a:rPr lang="en-US" dirty="0" smtClean="0"/>
            </a:br>
            <a:endParaRPr lang="en-US" dirty="0" smtClean="0"/>
          </a:p>
          <a:p>
            <a:r>
              <a:rPr lang="en-US" dirty="0" smtClean="0"/>
              <a:t>Initially designed to support scalable CRM applications, the platform has evolved to support the entire life cycle of a wider </a:t>
            </a:r>
            <a:r>
              <a:rPr lang="en-US" dirty="0"/>
              <a:t>range </a:t>
            </a:r>
            <a:r>
              <a:rPr lang="en-US" dirty="0" smtClean="0"/>
              <a:t>of cloud applications by implementing a flexible and scalable infrastructure. </a:t>
            </a:r>
            <a:endParaRPr lang="en-US" dirty="0"/>
          </a:p>
        </p:txBody>
      </p:sp>
    </p:spTree>
    <p:extLst>
      <p:ext uri="{BB962C8B-B14F-4D97-AF65-F5344CB8AC3E}">
        <p14:creationId xmlns:p14="http://schemas.microsoft.com/office/powerpoint/2010/main" val="10812642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sz="2400" dirty="0">
                <a:solidFill>
                  <a:srgbClr val="FF0000"/>
                </a:solidFill>
              </a:rPr>
              <a:t>CRM </a:t>
            </a:r>
            <a:r>
              <a:rPr lang="en-US" sz="2400" dirty="0" smtClean="0">
                <a:solidFill>
                  <a:srgbClr val="FF0000"/>
                </a:solidFill>
              </a:rPr>
              <a:t>– </a:t>
            </a:r>
            <a:r>
              <a:rPr lang="en-US" sz="2400" dirty="0" smtClean="0"/>
              <a:t>Microsoft dynamics CRM </a:t>
            </a:r>
            <a:endParaRPr lang="en-US" sz="2400" dirty="0"/>
          </a:p>
        </p:txBody>
      </p:sp>
      <p:sp>
        <p:nvSpPr>
          <p:cNvPr id="3" name="Content Placeholder 2"/>
          <p:cNvSpPr>
            <a:spLocks noGrp="1"/>
          </p:cNvSpPr>
          <p:nvPr>
            <p:ph idx="1"/>
          </p:nvPr>
        </p:nvSpPr>
        <p:spPr>
          <a:xfrm>
            <a:off x="0" y="1219200"/>
            <a:ext cx="8991600" cy="5257800"/>
          </a:xfrm>
        </p:spPr>
        <p:txBody>
          <a:bodyPr>
            <a:normAutofit fontScale="70000" lnSpcReduction="20000"/>
          </a:bodyPr>
          <a:lstStyle/>
          <a:p>
            <a:r>
              <a:rPr lang="en-US" dirty="0" smtClean="0"/>
              <a:t>Microsoft Dynamics CRM is the solution implemented by Microsoft for customer relationship management. Dynamics CRM is available either for installation on the enterprise’s premises or as an </a:t>
            </a:r>
            <a:r>
              <a:rPr lang="en-US" dirty="0"/>
              <a:t>online </a:t>
            </a:r>
            <a:r>
              <a:rPr lang="en-US" dirty="0" smtClean="0"/>
              <a:t>solution priced as a monthly per user subscription</a:t>
            </a:r>
            <a:r>
              <a:rPr lang="en-US" dirty="0"/>
              <a:t>. </a:t>
            </a:r>
            <a:endParaRPr lang="en-US" dirty="0" smtClean="0"/>
          </a:p>
          <a:p>
            <a:r>
              <a:rPr lang="en-US" dirty="0" smtClean="0"/>
              <a:t>The system is completely hosted in Microsoft’s data centers across the world and offers to customers a </a:t>
            </a:r>
            <a:r>
              <a:rPr lang="en-US" b="1" dirty="0" smtClean="0"/>
              <a:t>99.9% SLA</a:t>
            </a:r>
            <a:r>
              <a:rPr lang="en-US" dirty="0" smtClean="0"/>
              <a:t>, with bonus credits if the system does not fulfill the agreement. Each CRM instance is deployed on a separate database, and the application provides users with facilities for marketing, sales, and advanced customer relationship management.</a:t>
            </a:r>
          </a:p>
          <a:p>
            <a:r>
              <a:rPr lang="en-US" dirty="0" smtClean="0"/>
              <a:t>Dynamics CRM Online features are accessed through a Web browser interface.</a:t>
            </a:r>
          </a:p>
          <a:p>
            <a:r>
              <a:rPr lang="en-US" dirty="0" smtClean="0"/>
              <a:t>This allows Dynamics CRM to be easily integrated with both other Microsoft products and line-of-business applications.</a:t>
            </a:r>
          </a:p>
          <a:p>
            <a:r>
              <a:rPr lang="en-US" dirty="0" smtClean="0"/>
              <a:t>Dynamics CRM can be extended by developing plugin s that allow implementing specific behaviors triggered on the occurrence of given </a:t>
            </a:r>
            <a:r>
              <a:rPr lang="en-US" dirty="0"/>
              <a:t>events</a:t>
            </a:r>
            <a:r>
              <a:rPr lang="en-US" dirty="0" smtClean="0"/>
              <a:t>.</a:t>
            </a:r>
          </a:p>
          <a:p>
            <a:r>
              <a:rPr lang="en-US" dirty="0" smtClean="0"/>
              <a:t>Dynamics CRM can also leverage the capability of Windows Azure for the development </a:t>
            </a:r>
            <a:r>
              <a:rPr lang="en-US" dirty="0"/>
              <a:t>and </a:t>
            </a:r>
            <a:r>
              <a:rPr lang="en-US" dirty="0" smtClean="0"/>
              <a:t>integration of new features</a:t>
            </a:r>
            <a:r>
              <a:rPr lang="en-US" dirty="0"/>
              <a:t>. </a:t>
            </a:r>
          </a:p>
        </p:txBody>
      </p:sp>
    </p:spTree>
    <p:extLst>
      <p:ext uri="{BB962C8B-B14F-4D97-AF65-F5344CB8AC3E}">
        <p14:creationId xmlns:p14="http://schemas.microsoft.com/office/powerpoint/2010/main" val="11024723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FF0000"/>
                </a:solidFill>
              </a:rPr>
              <a:t>Productivity </a:t>
            </a:r>
            <a:r>
              <a:rPr lang="en-US" sz="3200" b="1" dirty="0">
                <a:solidFill>
                  <a:srgbClr val="FF0000"/>
                </a:solidFill>
              </a:rPr>
              <a:t>applications</a:t>
            </a:r>
          </a:p>
        </p:txBody>
      </p:sp>
      <p:sp>
        <p:nvSpPr>
          <p:cNvPr id="3" name="Content Placeholder 2"/>
          <p:cNvSpPr>
            <a:spLocks noGrp="1"/>
          </p:cNvSpPr>
          <p:nvPr>
            <p:ph idx="1"/>
          </p:nvPr>
        </p:nvSpPr>
        <p:spPr/>
        <p:txBody>
          <a:bodyPr/>
          <a:lstStyle/>
          <a:p>
            <a:r>
              <a:rPr lang="en-US" b="1" dirty="0" smtClean="0"/>
              <a:t>Productivity applications </a:t>
            </a:r>
            <a:r>
              <a:rPr lang="en-US" dirty="0" smtClean="0"/>
              <a:t>replicate in the cloud some of the most common tasks that we are used to performing on our desktop: from </a:t>
            </a:r>
            <a:r>
              <a:rPr lang="en-US" b="1" dirty="0" smtClean="0"/>
              <a:t>document storage </a:t>
            </a:r>
            <a:r>
              <a:rPr lang="en-US" dirty="0" smtClean="0"/>
              <a:t>to </a:t>
            </a:r>
            <a:r>
              <a:rPr lang="en-US" b="1" dirty="0" smtClean="0"/>
              <a:t>office automation </a:t>
            </a:r>
            <a:r>
              <a:rPr lang="en-US" dirty="0" smtClean="0"/>
              <a:t>and </a:t>
            </a:r>
            <a:r>
              <a:rPr lang="en-US" b="1" dirty="0" smtClean="0"/>
              <a:t>complete desktop environments </a:t>
            </a:r>
            <a:r>
              <a:rPr lang="en-US" dirty="0" smtClean="0"/>
              <a:t>hosted in the cloud</a:t>
            </a:r>
            <a:r>
              <a:rPr lang="en-US" dirty="0"/>
              <a:t>. </a:t>
            </a:r>
          </a:p>
        </p:txBody>
      </p:sp>
    </p:spTree>
    <p:extLst>
      <p:ext uri="{BB962C8B-B14F-4D97-AF65-F5344CB8AC3E}">
        <p14:creationId xmlns:p14="http://schemas.microsoft.com/office/powerpoint/2010/main" val="5112636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838200"/>
          </a:xfrm>
        </p:spPr>
        <p:txBody>
          <a:bodyPr>
            <a:normAutofit fontScale="90000"/>
          </a:bodyPr>
          <a:lstStyle/>
          <a:p>
            <a:r>
              <a:rPr lang="en-US" sz="3600" dirty="0">
                <a:solidFill>
                  <a:srgbClr val="FF0000"/>
                </a:solidFill>
              </a:rPr>
              <a:t>Productivity applications-</a:t>
            </a:r>
            <a:r>
              <a:rPr lang="en-US" sz="3600" dirty="0" err="1" smtClean="0"/>
              <a:t>Dropbox</a:t>
            </a:r>
            <a:r>
              <a:rPr lang="en-US" sz="3600" dirty="0" smtClean="0"/>
              <a:t> and </a:t>
            </a:r>
            <a:r>
              <a:rPr lang="en-US" sz="3600" dirty="0" err="1" smtClean="0"/>
              <a:t>iCloud</a:t>
            </a:r>
            <a:r>
              <a:rPr lang="en-US" sz="3600" dirty="0" smtClean="0"/>
              <a:t> </a:t>
            </a:r>
            <a:endParaRPr lang="en-US" sz="3600" dirty="0"/>
          </a:p>
        </p:txBody>
      </p:sp>
      <p:sp>
        <p:nvSpPr>
          <p:cNvPr id="3" name="Content Placeholder 2"/>
          <p:cNvSpPr>
            <a:spLocks noGrp="1"/>
          </p:cNvSpPr>
          <p:nvPr>
            <p:ph idx="1"/>
          </p:nvPr>
        </p:nvSpPr>
        <p:spPr>
          <a:xfrm>
            <a:off x="457200" y="838200"/>
            <a:ext cx="8229600" cy="5791200"/>
          </a:xfrm>
        </p:spPr>
        <p:txBody>
          <a:bodyPr>
            <a:noAutofit/>
          </a:bodyPr>
          <a:lstStyle/>
          <a:p>
            <a:r>
              <a:rPr lang="en-US" sz="2000" dirty="0" smtClean="0"/>
              <a:t> </a:t>
            </a:r>
            <a:r>
              <a:rPr lang="en-US" sz="1900" dirty="0" smtClean="0"/>
              <a:t>One of the core features of cloud computing is availability  anywhere, at anytime, and from any Internet connected device. Therefore, document storage constitutes a natural application for such </a:t>
            </a:r>
            <a:r>
              <a:rPr lang="en-US" sz="1900" dirty="0"/>
              <a:t>technology</a:t>
            </a:r>
            <a:r>
              <a:rPr lang="en-US" sz="1900" dirty="0" smtClean="0"/>
              <a:t>.</a:t>
            </a:r>
          </a:p>
          <a:p>
            <a:r>
              <a:rPr lang="en-US" sz="1900" dirty="0" smtClean="0"/>
              <a:t>Online storage solutions preceded cloud computing, but they never be came popular</a:t>
            </a:r>
            <a:r>
              <a:rPr lang="en-US" sz="1900" dirty="0"/>
              <a:t>. </a:t>
            </a:r>
            <a:endParaRPr lang="en-US" sz="1900" dirty="0" smtClean="0"/>
          </a:p>
          <a:p>
            <a:r>
              <a:rPr lang="en-US" sz="1900" dirty="0" smtClean="0"/>
              <a:t>With the development of cloud technologies, online storage solutions have turned into </a:t>
            </a:r>
            <a:r>
              <a:rPr lang="en-US" sz="1900" b="1" dirty="0" err="1" smtClean="0"/>
              <a:t>SaaS</a:t>
            </a:r>
            <a:r>
              <a:rPr lang="en-US" sz="1900" b="1" dirty="0" smtClean="0"/>
              <a:t> applications </a:t>
            </a:r>
            <a:r>
              <a:rPr lang="en-US" sz="1900" dirty="0" smtClean="0"/>
              <a:t>and become more usable as well as more advanced and accessible</a:t>
            </a:r>
            <a:r>
              <a:rPr lang="en-US" sz="1900" dirty="0"/>
              <a:t>. </a:t>
            </a:r>
            <a:endParaRPr lang="en-US" sz="1900" dirty="0" smtClean="0"/>
          </a:p>
          <a:p>
            <a:r>
              <a:rPr lang="en-US" sz="1900" dirty="0" smtClean="0"/>
              <a:t>Perhaps the most popular solution for online document storage is </a:t>
            </a:r>
            <a:r>
              <a:rPr lang="en-US" sz="1900" b="1" dirty="0" err="1"/>
              <a:t>Dropbox</a:t>
            </a:r>
            <a:r>
              <a:rPr lang="en-US" sz="1900" b="1" dirty="0"/>
              <a:t>, </a:t>
            </a:r>
            <a:r>
              <a:rPr lang="en-US" sz="1900" dirty="0" smtClean="0"/>
              <a:t>an online application that allows users to synchronize any file across any platform and any device in a seamless manner.</a:t>
            </a:r>
          </a:p>
          <a:p>
            <a:r>
              <a:rPr lang="en-US" sz="1900" dirty="0" smtClean="0"/>
              <a:t>Drop box provides users with a free amount of storage that is accessible </a:t>
            </a:r>
            <a:r>
              <a:rPr lang="en-US" sz="1900" dirty="0"/>
              <a:t>through </a:t>
            </a:r>
            <a:r>
              <a:rPr lang="en-US" sz="1900" dirty="0" smtClean="0"/>
              <a:t>the abstraction of a folder.</a:t>
            </a:r>
          </a:p>
          <a:p>
            <a:r>
              <a:rPr lang="en-US" sz="1900" dirty="0" smtClean="0"/>
              <a:t>Users can either access their </a:t>
            </a:r>
            <a:r>
              <a:rPr lang="en-US" sz="1900" dirty="0" err="1" smtClean="0"/>
              <a:t>Dropbox</a:t>
            </a:r>
            <a:r>
              <a:rPr lang="en-US" sz="1900" dirty="0" smtClean="0"/>
              <a:t> folder through a browser </a:t>
            </a:r>
            <a:r>
              <a:rPr lang="en-US" sz="1900" dirty="0"/>
              <a:t>or </a:t>
            </a:r>
            <a:r>
              <a:rPr lang="en-US" sz="1900" dirty="0" smtClean="0"/>
              <a:t>by downloading and installing a  </a:t>
            </a:r>
            <a:r>
              <a:rPr lang="en-US" sz="1900" dirty="0" err="1" smtClean="0"/>
              <a:t>Dropbox</a:t>
            </a:r>
            <a:r>
              <a:rPr lang="en-US" sz="1900" dirty="0" smtClean="0"/>
              <a:t> client, which provides access to the online storage by </a:t>
            </a:r>
            <a:r>
              <a:rPr lang="en-US" sz="1900" dirty="0"/>
              <a:t>means </a:t>
            </a:r>
            <a:r>
              <a:rPr lang="en-US" sz="1900" dirty="0" smtClean="0"/>
              <a:t>of a special folder. </a:t>
            </a:r>
          </a:p>
          <a:p>
            <a:r>
              <a:rPr lang="en-US" sz="1900" dirty="0" smtClean="0"/>
              <a:t>All the modifications into this folder are silently synched so that changes </a:t>
            </a:r>
            <a:r>
              <a:rPr lang="en-US" sz="1900" dirty="0"/>
              <a:t>are </a:t>
            </a:r>
            <a:r>
              <a:rPr lang="en-US" sz="1900" dirty="0" smtClean="0"/>
              <a:t>notified to all the local instances of the </a:t>
            </a:r>
            <a:r>
              <a:rPr lang="en-US" sz="1900" dirty="0" err="1" smtClean="0"/>
              <a:t>Dropbox</a:t>
            </a:r>
            <a:r>
              <a:rPr lang="en-US" sz="1900" dirty="0" smtClean="0"/>
              <a:t> folder across all the devices. </a:t>
            </a:r>
            <a:endParaRPr lang="en-US" sz="1900" dirty="0"/>
          </a:p>
        </p:txBody>
      </p:sp>
    </p:spTree>
    <p:extLst>
      <p:ext uri="{BB962C8B-B14F-4D97-AF65-F5344CB8AC3E}">
        <p14:creationId xmlns:p14="http://schemas.microsoft.com/office/powerpoint/2010/main" val="16388108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solidFill>
                  <a:srgbClr val="FF0000"/>
                </a:solidFill>
              </a:rPr>
              <a:t>Productivity applications-</a:t>
            </a:r>
            <a:r>
              <a:rPr lang="en-US" sz="3600" dirty="0" err="1" smtClean="0"/>
              <a:t>Dropbox</a:t>
            </a:r>
            <a:r>
              <a:rPr lang="en-US" sz="3600" dirty="0" smtClean="0"/>
              <a:t> </a:t>
            </a:r>
            <a:r>
              <a:rPr lang="en-US" sz="3600" dirty="0"/>
              <a:t>and </a:t>
            </a:r>
            <a:r>
              <a:rPr lang="en-US" sz="3600" dirty="0" err="1"/>
              <a:t>iCloud</a:t>
            </a:r>
            <a:r>
              <a:rPr lang="en-US" sz="3600" dirty="0"/>
              <a:t> </a:t>
            </a:r>
          </a:p>
        </p:txBody>
      </p:sp>
      <p:sp>
        <p:nvSpPr>
          <p:cNvPr id="3" name="Content Placeholder 2"/>
          <p:cNvSpPr>
            <a:spLocks noGrp="1"/>
          </p:cNvSpPr>
          <p:nvPr>
            <p:ph idx="1"/>
          </p:nvPr>
        </p:nvSpPr>
        <p:spPr>
          <a:xfrm>
            <a:off x="457200" y="1600200"/>
            <a:ext cx="8229600" cy="5791200"/>
          </a:xfrm>
        </p:spPr>
        <p:txBody>
          <a:bodyPr>
            <a:normAutofit fontScale="55000" lnSpcReduction="20000"/>
          </a:bodyPr>
          <a:lstStyle/>
          <a:p>
            <a:r>
              <a:rPr lang="en-US" dirty="0" smtClean="0"/>
              <a:t>They </a:t>
            </a:r>
            <a:r>
              <a:rPr lang="en-US" b="1" dirty="0" smtClean="0"/>
              <a:t>key advantage </a:t>
            </a:r>
            <a:r>
              <a:rPr lang="en-US" dirty="0" smtClean="0"/>
              <a:t>of </a:t>
            </a:r>
            <a:r>
              <a:rPr lang="en-US" dirty="0" err="1" smtClean="0"/>
              <a:t>Dropbox</a:t>
            </a:r>
            <a:r>
              <a:rPr lang="en-US" dirty="0" smtClean="0"/>
              <a:t> is its availability on different platforms (Windows, Mac, Linux, and mobile</a:t>
            </a:r>
            <a:r>
              <a:rPr lang="en-US" dirty="0"/>
              <a:t>) and </a:t>
            </a:r>
            <a:r>
              <a:rPr lang="en-US" dirty="0" smtClean="0"/>
              <a:t>the capability to work seamlessly and transparently across all of them</a:t>
            </a:r>
            <a:r>
              <a:rPr lang="en-US" dirty="0"/>
              <a:t>. </a:t>
            </a:r>
            <a:r>
              <a:rPr lang="en-US" dirty="0" smtClean="0"/>
              <a:t> </a:t>
            </a:r>
          </a:p>
          <a:p>
            <a:r>
              <a:rPr lang="en-US" dirty="0" smtClean="0"/>
              <a:t>Another interesting application in this area is </a:t>
            </a:r>
            <a:r>
              <a:rPr lang="en-US" b="1" dirty="0" err="1" smtClean="0"/>
              <a:t>iCloud</a:t>
            </a:r>
            <a:r>
              <a:rPr lang="en-US" b="1" dirty="0" smtClean="0"/>
              <a:t>,  </a:t>
            </a:r>
            <a:r>
              <a:rPr lang="en-US" dirty="0" smtClean="0"/>
              <a:t>a cloud-based document-sharing application provided by </a:t>
            </a:r>
            <a:r>
              <a:rPr lang="en-US" b="1" dirty="0" smtClean="0"/>
              <a:t>Apple </a:t>
            </a:r>
            <a:r>
              <a:rPr lang="en-US" dirty="0" smtClean="0"/>
              <a:t>to synchronize </a:t>
            </a:r>
            <a:r>
              <a:rPr lang="en-US" dirty="0" err="1" smtClean="0"/>
              <a:t>iOS</a:t>
            </a:r>
            <a:r>
              <a:rPr lang="en-US" dirty="0" smtClean="0"/>
              <a:t>-based devices in a completely transparent manner</a:t>
            </a:r>
            <a:r>
              <a:rPr lang="en-US" dirty="0"/>
              <a:t>. </a:t>
            </a:r>
            <a:endParaRPr lang="en-US" dirty="0" smtClean="0"/>
          </a:p>
          <a:p>
            <a:r>
              <a:rPr lang="en-US" dirty="0" smtClean="0"/>
              <a:t>Unlike </a:t>
            </a:r>
            <a:r>
              <a:rPr lang="en-US" dirty="0" err="1" smtClean="0"/>
              <a:t>Dropbox</a:t>
            </a:r>
            <a:r>
              <a:rPr lang="en-US" dirty="0" smtClean="0"/>
              <a:t>, which provides synchronization through the abstraction of a local folder, </a:t>
            </a:r>
            <a:r>
              <a:rPr lang="en-US" dirty="0" err="1" smtClean="0"/>
              <a:t>iCloud</a:t>
            </a:r>
            <a:r>
              <a:rPr lang="en-US" dirty="0" smtClean="0"/>
              <a:t> </a:t>
            </a:r>
            <a:r>
              <a:rPr lang="en-US" dirty="0"/>
              <a:t>has </a:t>
            </a:r>
            <a:r>
              <a:rPr lang="en-US" dirty="0" smtClean="0"/>
              <a:t>been designed to be completely transparent once it has been setup. </a:t>
            </a:r>
          </a:p>
          <a:p>
            <a:r>
              <a:rPr lang="en-US" dirty="0" smtClean="0"/>
              <a:t>Documents, photos, and videos are automatically synched as changes are made, without any explicit operation.</a:t>
            </a:r>
          </a:p>
          <a:p>
            <a:r>
              <a:rPr lang="en-US" dirty="0" smtClean="0"/>
              <a:t>This  allows </a:t>
            </a:r>
            <a:r>
              <a:rPr lang="en-US" dirty="0"/>
              <a:t>the </a:t>
            </a:r>
            <a:r>
              <a:rPr lang="en-US" dirty="0" smtClean="0"/>
              <a:t>system to efficiently automate common operations without any human intervention: taking a picture with your iPhone and  having it automatically available in iPhoto on your Mac at home; editing a document on the iMac at home and having the changes updated in your </a:t>
            </a:r>
            <a:r>
              <a:rPr lang="en-US" dirty="0" err="1" smtClean="0"/>
              <a:t>iPad</a:t>
            </a:r>
            <a:r>
              <a:rPr lang="en-US" dirty="0"/>
              <a:t>. </a:t>
            </a:r>
            <a:r>
              <a:rPr lang="en-US" dirty="0" smtClean="0"/>
              <a:t> </a:t>
            </a:r>
          </a:p>
          <a:p>
            <a:r>
              <a:rPr lang="en-US" dirty="0" smtClean="0"/>
              <a:t>Unfortunately, this capability is limited to </a:t>
            </a:r>
            <a:r>
              <a:rPr lang="en-US" dirty="0" err="1" smtClean="0"/>
              <a:t>iOS</a:t>
            </a:r>
            <a:r>
              <a:rPr lang="en-US" dirty="0" smtClean="0"/>
              <a:t> devices, and currently there are no plans to provide </a:t>
            </a:r>
            <a:r>
              <a:rPr lang="en-US" dirty="0" err="1" smtClean="0"/>
              <a:t>iCloud</a:t>
            </a:r>
            <a:r>
              <a:rPr lang="en-US" dirty="0" smtClean="0"/>
              <a:t> with </a:t>
            </a:r>
            <a:r>
              <a:rPr lang="en-US" dirty="0" err="1" smtClean="0"/>
              <a:t>aWeb</a:t>
            </a:r>
            <a:r>
              <a:rPr lang="en-US" dirty="0" smtClean="0"/>
              <a:t>-based interface that would make user content accessible from even unsupported </a:t>
            </a:r>
            <a:r>
              <a:rPr lang="en-US" dirty="0"/>
              <a:t>platforms. </a:t>
            </a:r>
            <a:endParaRPr lang="en-US" dirty="0" smtClean="0"/>
          </a:p>
          <a:p>
            <a:r>
              <a:rPr lang="en-US" dirty="0" smtClean="0"/>
              <a:t>There are other solutions for online document sharing, such as Windows Live</a:t>
            </a:r>
            <a:r>
              <a:rPr lang="en-US" dirty="0"/>
              <a:t>, Amazon Cloud Drive, and </a:t>
            </a:r>
            <a:r>
              <a:rPr lang="en-US" dirty="0" err="1"/>
              <a:t>CloudMe</a:t>
            </a:r>
            <a:r>
              <a:rPr lang="en-US" dirty="0"/>
              <a:t>, </a:t>
            </a:r>
            <a:r>
              <a:rPr lang="en-US" dirty="0" smtClean="0"/>
              <a:t>that are popular and that we did not cover. </a:t>
            </a:r>
            <a:endParaRPr lang="en-US" dirty="0"/>
          </a:p>
        </p:txBody>
      </p:sp>
    </p:spTree>
    <p:extLst>
      <p:ext uri="{BB962C8B-B14F-4D97-AF65-F5344CB8AC3E}">
        <p14:creationId xmlns:p14="http://schemas.microsoft.com/office/powerpoint/2010/main" val="20896158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487362"/>
          </a:xfrm>
        </p:spPr>
        <p:txBody>
          <a:bodyPr>
            <a:normAutofit fontScale="90000"/>
          </a:bodyPr>
          <a:lstStyle/>
          <a:p>
            <a:r>
              <a:rPr lang="en-US" sz="3200" dirty="0">
                <a:solidFill>
                  <a:srgbClr val="FF0000"/>
                </a:solidFill>
              </a:rPr>
              <a:t>Productivity applications-</a:t>
            </a:r>
            <a:r>
              <a:rPr lang="en-US" sz="3200" dirty="0" smtClean="0"/>
              <a:t>Google docs</a:t>
            </a:r>
            <a:endParaRPr lang="en-US" sz="3200" dirty="0"/>
          </a:p>
        </p:txBody>
      </p:sp>
      <p:sp>
        <p:nvSpPr>
          <p:cNvPr id="3" name="Content Placeholder 2"/>
          <p:cNvSpPr>
            <a:spLocks noGrp="1"/>
          </p:cNvSpPr>
          <p:nvPr>
            <p:ph idx="1"/>
          </p:nvPr>
        </p:nvSpPr>
        <p:spPr>
          <a:xfrm>
            <a:off x="457200" y="914400"/>
            <a:ext cx="8229600" cy="5867400"/>
          </a:xfrm>
        </p:spPr>
        <p:txBody>
          <a:bodyPr>
            <a:noAutofit/>
          </a:bodyPr>
          <a:lstStyle/>
          <a:p>
            <a:r>
              <a:rPr lang="en-US" sz="1600" dirty="0" smtClean="0"/>
              <a:t>Google </a:t>
            </a:r>
            <a:r>
              <a:rPr lang="en-US" sz="1600" dirty="0"/>
              <a:t>Docs </a:t>
            </a:r>
            <a:r>
              <a:rPr lang="en-US" sz="1600" dirty="0" smtClean="0"/>
              <a:t>is a </a:t>
            </a:r>
            <a:r>
              <a:rPr lang="en-US" sz="1600" b="1" dirty="0" err="1" smtClean="0"/>
              <a:t>SaaS</a:t>
            </a:r>
            <a:r>
              <a:rPr lang="en-US" sz="1600" b="1" dirty="0" smtClean="0"/>
              <a:t> </a:t>
            </a:r>
            <a:r>
              <a:rPr lang="en-US" sz="1600" dirty="0" smtClean="0"/>
              <a:t>application that delivers the basic office automation capabilities with support for collaborative editing over the Web.</a:t>
            </a:r>
          </a:p>
          <a:p>
            <a:r>
              <a:rPr lang="en-US" sz="1600" dirty="0" smtClean="0"/>
              <a:t>The application is executed on top of  the Google distributed computing infrastructure, which allows the system to dynamically scale according to the number of users using the service</a:t>
            </a:r>
            <a:r>
              <a:rPr lang="en-US" sz="1600" dirty="0"/>
              <a:t>. </a:t>
            </a:r>
            <a:endParaRPr lang="en-US" sz="1600" dirty="0" smtClean="0"/>
          </a:p>
          <a:p>
            <a:r>
              <a:rPr lang="en-US" sz="1600" dirty="0" smtClean="0"/>
              <a:t>Google Docs allows users to  create and edit text documents, spreadsheets, presentations, forms</a:t>
            </a:r>
            <a:r>
              <a:rPr lang="en-US" sz="1600" dirty="0"/>
              <a:t>, and </a:t>
            </a:r>
            <a:r>
              <a:rPr lang="en-US" sz="1600" dirty="0" smtClean="0"/>
              <a:t>drawings. It aims to replace desktop products such as Microsoft Office and Open Office and provide similar interface and functionality as a cloud service. </a:t>
            </a:r>
          </a:p>
          <a:p>
            <a:r>
              <a:rPr lang="en-US" sz="1600" dirty="0" smtClean="0"/>
              <a:t>It supports collaborative editing over the Web for most of the applications included in the suite.</a:t>
            </a:r>
          </a:p>
          <a:p>
            <a:r>
              <a:rPr lang="en-US" sz="1600" b="1" dirty="0" smtClean="0"/>
              <a:t>This eliminates tedious emailing and synchronization tasks when documents need to be edited by multiple users. </a:t>
            </a:r>
          </a:p>
          <a:p>
            <a:r>
              <a:rPr lang="en-US" sz="1600" dirty="0" smtClean="0"/>
              <a:t>By being stored in the Google infrastructure, these  documents are always available  from anywhere and from any device that is connected to the Internet. </a:t>
            </a:r>
          </a:p>
          <a:p>
            <a:r>
              <a:rPr lang="en-US" sz="1600" dirty="0" smtClean="0"/>
              <a:t>Moreover, the suite allows users to work offline if Internet connectivity is not available. </a:t>
            </a:r>
          </a:p>
          <a:p>
            <a:r>
              <a:rPr lang="en-US" sz="1600" dirty="0" smtClean="0"/>
              <a:t>Support for various formats such as those that are produced by the most popular desktop office solutions allows users to easily import and move documents in and out of Google Docs, thus eliminating barriers  to the use of this application</a:t>
            </a:r>
            <a:r>
              <a:rPr lang="en-US" sz="1600" dirty="0"/>
              <a:t>. </a:t>
            </a:r>
            <a:endParaRPr lang="en-US" sz="1600" dirty="0" smtClean="0"/>
          </a:p>
          <a:p>
            <a:r>
              <a:rPr lang="en-US" sz="1600" b="1" dirty="0" smtClean="0"/>
              <a:t>Google Docs is a good example of what cloud computing can deliver to end users: </a:t>
            </a:r>
            <a:r>
              <a:rPr lang="en-US" sz="1600" b="1" dirty="0" smtClean="0">
                <a:solidFill>
                  <a:srgbClr val="FF0000"/>
                </a:solidFill>
              </a:rPr>
              <a:t>ubiquitous</a:t>
            </a:r>
            <a:r>
              <a:rPr lang="en-US" sz="1600" b="1" dirty="0" smtClean="0"/>
              <a:t> access to resources, </a:t>
            </a:r>
            <a:r>
              <a:rPr lang="en-US" sz="1600" b="1" dirty="0" smtClean="0">
                <a:solidFill>
                  <a:srgbClr val="FF0000"/>
                </a:solidFill>
              </a:rPr>
              <a:t>elasticity, absence of installation </a:t>
            </a:r>
            <a:r>
              <a:rPr lang="en-US" sz="1600" b="1" dirty="0" smtClean="0"/>
              <a:t>and </a:t>
            </a:r>
            <a:r>
              <a:rPr lang="en-US" sz="1600" b="1" dirty="0" smtClean="0">
                <a:solidFill>
                  <a:srgbClr val="FF0000"/>
                </a:solidFill>
              </a:rPr>
              <a:t>maintenance costs, </a:t>
            </a:r>
            <a:r>
              <a:rPr lang="en-US" sz="1600" b="1" dirty="0" smtClean="0"/>
              <a:t>and </a:t>
            </a:r>
            <a:r>
              <a:rPr lang="en-US" sz="1600" b="1" dirty="0" smtClean="0">
                <a:solidFill>
                  <a:srgbClr val="FF0000"/>
                </a:solidFill>
              </a:rPr>
              <a:t>delivery of core functionalities as a service</a:t>
            </a:r>
            <a:r>
              <a:rPr lang="en-US" sz="1600" b="1" dirty="0">
                <a:solidFill>
                  <a:srgbClr val="FF0000"/>
                </a:solidFill>
              </a:rPr>
              <a:t>. </a:t>
            </a:r>
          </a:p>
        </p:txBody>
      </p:sp>
    </p:spTree>
    <p:extLst>
      <p:ext uri="{BB962C8B-B14F-4D97-AF65-F5344CB8AC3E}">
        <p14:creationId xmlns:p14="http://schemas.microsoft.com/office/powerpoint/2010/main" val="13267723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solidFill>
                  <a:srgbClr val="FF0000"/>
                </a:solidFill>
              </a:rPr>
              <a:t>Social networking </a:t>
            </a:r>
            <a:endParaRPr lang="en-US" sz="3200"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r>
              <a:rPr lang="en-US" dirty="0" smtClean="0"/>
              <a:t>Social networking applications have grown considerably in the last few years to become the most active sites on the Web.</a:t>
            </a:r>
          </a:p>
          <a:p>
            <a:r>
              <a:rPr lang="en-US" dirty="0" smtClean="0"/>
              <a:t>To sustain their traffic and serve millions of users seamlessly, services  </a:t>
            </a:r>
            <a:r>
              <a:rPr lang="en-US" dirty="0"/>
              <a:t>such </a:t>
            </a:r>
            <a:r>
              <a:rPr lang="en-US" dirty="0" smtClean="0"/>
              <a:t>as Twitter and Facebook have leveraged cloud computing technologies.</a:t>
            </a:r>
          </a:p>
          <a:p>
            <a:r>
              <a:rPr lang="en-US" b="1" dirty="0" smtClean="0"/>
              <a:t>The possibility of continuously adding capacity while systems are running is the most attractive feature for social networks, which constantly increase their user base</a:t>
            </a:r>
            <a:r>
              <a:rPr lang="en-US" b="1" dirty="0"/>
              <a:t>. </a:t>
            </a:r>
          </a:p>
        </p:txBody>
      </p:sp>
    </p:spTree>
    <p:extLst>
      <p:ext uri="{BB962C8B-B14F-4D97-AF65-F5344CB8AC3E}">
        <p14:creationId xmlns:p14="http://schemas.microsoft.com/office/powerpoint/2010/main" val="1646678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7315200"/>
          </a:xfrm>
        </p:spPr>
        <p:txBody>
          <a:bodyPr>
            <a:normAutofit fontScale="55000" lnSpcReduction="20000"/>
          </a:bodyPr>
          <a:lstStyle/>
          <a:p>
            <a:pPr marL="0" lvl="0" indent="0" algn="ctr">
              <a:buNone/>
            </a:pPr>
            <a:r>
              <a:rPr lang="en-US" sz="4400" b="1" dirty="0">
                <a:solidFill>
                  <a:srgbClr val="FF0000"/>
                </a:solidFill>
              </a:rPr>
              <a:t>Social networking </a:t>
            </a:r>
            <a:r>
              <a:rPr lang="en-US" sz="4400" b="1" dirty="0" smtClean="0"/>
              <a:t>-Facebook </a:t>
            </a:r>
            <a:endParaRPr lang="en-US" sz="4400" b="1" dirty="0"/>
          </a:p>
          <a:p>
            <a:pPr lvl="0"/>
            <a:r>
              <a:rPr lang="en-US" dirty="0"/>
              <a:t>Facebook is probably the most evident and interesting environment in social networking. </a:t>
            </a:r>
          </a:p>
          <a:p>
            <a:pPr lvl="0"/>
            <a:r>
              <a:rPr lang="en-US" b="1" dirty="0"/>
              <a:t>With more than 800 million users,</a:t>
            </a:r>
            <a:r>
              <a:rPr lang="en-US" dirty="0"/>
              <a:t> it has become one of the largest Websites in the world.</a:t>
            </a:r>
          </a:p>
          <a:p>
            <a:pPr lvl="0"/>
            <a:r>
              <a:rPr lang="en-US" dirty="0"/>
              <a:t>To sustain this incredible growth, it has been fundamental that Facebook be capable of continuously adding capacity and developing new scalable technologies and software systems while maintaining high performance to ensure a smooth user experience. </a:t>
            </a:r>
          </a:p>
          <a:p>
            <a:pPr lvl="0"/>
            <a:r>
              <a:rPr lang="en-US" dirty="0"/>
              <a:t>Currently, the social network is backed by </a:t>
            </a:r>
            <a:r>
              <a:rPr lang="en-US" b="1" dirty="0"/>
              <a:t>two data centers </a:t>
            </a:r>
            <a:r>
              <a:rPr lang="en-US" dirty="0"/>
              <a:t>that have been built and optimized to reduce costs and impact on the environment. </a:t>
            </a:r>
          </a:p>
          <a:p>
            <a:pPr lvl="0"/>
            <a:r>
              <a:rPr lang="en-US" dirty="0"/>
              <a:t>On top of this highly efficient infrastructure, built and designed out of inexpensive hardware, a completely customized stack of opportunely modified and refined open source technologies constitutes the back-end of the largest social network. </a:t>
            </a:r>
          </a:p>
          <a:p>
            <a:pPr lvl="0"/>
            <a:r>
              <a:rPr lang="en-US" b="1" dirty="0"/>
              <a:t>Taken all together, these technologies constitute a powerful platform for developing cloud applications.  </a:t>
            </a:r>
          </a:p>
          <a:p>
            <a:pPr lvl="0"/>
            <a:r>
              <a:rPr lang="en-US" dirty="0"/>
              <a:t>This platform primarily supports Facebook itself and offers APIs to integrate third party applications with Facebook’s core infrastructure to deliver additional services such as social games and quizzes created by others.  </a:t>
            </a:r>
          </a:p>
          <a:p>
            <a:pPr lvl="0"/>
            <a:r>
              <a:rPr lang="en-US" dirty="0"/>
              <a:t>The reference stack serving Facebook is based on LAMP (Linux, Apache, MySQL, and PHP). </a:t>
            </a:r>
          </a:p>
          <a:p>
            <a:pPr lvl="0"/>
            <a:r>
              <a:rPr lang="en-US" dirty="0"/>
              <a:t>This collection of technologies is accompanied by a collection of other services developed in-house.</a:t>
            </a:r>
          </a:p>
          <a:p>
            <a:pPr lvl="0"/>
            <a:r>
              <a:rPr lang="en-US" dirty="0"/>
              <a:t>These services are developed in a variety of languages and implement specific functionalities such as search, newsfeeds, notifications, and others.</a:t>
            </a:r>
          </a:p>
        </p:txBody>
      </p:sp>
    </p:spTree>
    <p:extLst>
      <p:ext uri="{BB962C8B-B14F-4D97-AF65-F5344CB8AC3E}">
        <p14:creationId xmlns:p14="http://schemas.microsoft.com/office/powerpoint/2010/main" val="39781192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rgbClr val="FF0000"/>
                </a:solidFill>
              </a:rPr>
              <a:t>Media </a:t>
            </a:r>
            <a:r>
              <a:rPr lang="en-US" sz="3600">
                <a:solidFill>
                  <a:srgbClr val="FF0000"/>
                </a:solidFill>
              </a:rPr>
              <a:t>applications </a:t>
            </a:r>
            <a:r>
              <a:rPr lang="en-US" sz="3600" smtClean="0">
                <a:solidFill>
                  <a:srgbClr val="FF0000"/>
                </a:solidFill>
              </a:rPr>
              <a:t> </a:t>
            </a:r>
            <a:endParaRPr lang="en-US" sz="3600"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r>
              <a:rPr lang="en-US" dirty="0"/>
              <a:t>Media applications Media </a:t>
            </a:r>
            <a:r>
              <a:rPr lang="en-US" dirty="0" smtClean="0"/>
              <a:t>applications are a niche that has taken a considerable advantage from leveraging cloud computing </a:t>
            </a:r>
            <a:r>
              <a:rPr lang="en-US" dirty="0"/>
              <a:t>technologies</a:t>
            </a:r>
            <a:r>
              <a:rPr lang="en-US" dirty="0" smtClean="0"/>
              <a:t>. </a:t>
            </a:r>
          </a:p>
          <a:p>
            <a:r>
              <a:rPr lang="en-US" dirty="0" smtClean="0"/>
              <a:t>In particular, video processing operations, such as encoding, transcoding, composition, and rendering, are good candidates for a cloud based environment .</a:t>
            </a:r>
          </a:p>
          <a:p>
            <a:r>
              <a:rPr lang="en-US" b="1" dirty="0" smtClean="0"/>
              <a:t>These are computationally intensive tasks that can be easily off loaded to cloud computing infrastructures</a:t>
            </a:r>
            <a:r>
              <a:rPr lang="en-US" b="1" dirty="0"/>
              <a:t>. </a:t>
            </a:r>
          </a:p>
        </p:txBody>
      </p:sp>
    </p:spTree>
    <p:extLst>
      <p:ext uri="{BB962C8B-B14F-4D97-AF65-F5344CB8AC3E}">
        <p14:creationId xmlns:p14="http://schemas.microsoft.com/office/powerpoint/2010/main" val="22179401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lvl="0"/>
            <a:r>
              <a:rPr lang="en-US" sz="3200" dirty="0">
                <a:solidFill>
                  <a:srgbClr val="FF0000"/>
                </a:solidFill>
              </a:rPr>
              <a:t>Media applications Media </a:t>
            </a:r>
            <a:r>
              <a:rPr lang="en-US" sz="3200" dirty="0" smtClean="0">
                <a:solidFill>
                  <a:srgbClr val="FF0000"/>
                </a:solidFill>
              </a:rPr>
              <a:t>- </a:t>
            </a:r>
            <a:r>
              <a:rPr lang="en-US" sz="3200" dirty="0" err="1" smtClean="0"/>
              <a:t>Animoto</a:t>
            </a:r>
            <a:r>
              <a:rPr lang="en-US" sz="3200" dirty="0" smtClean="0"/>
              <a:t> </a:t>
            </a:r>
            <a:r>
              <a:rPr lang="en-US" sz="3200" dirty="0"/>
              <a:t/>
            </a:r>
            <a:br>
              <a:rPr lang="en-US" sz="3200" dirty="0"/>
            </a:br>
            <a:endParaRPr lang="en-US" sz="3200" dirty="0"/>
          </a:p>
        </p:txBody>
      </p:sp>
      <p:sp>
        <p:nvSpPr>
          <p:cNvPr id="3" name="Content Placeholder 2"/>
          <p:cNvSpPr>
            <a:spLocks noGrp="1"/>
          </p:cNvSpPr>
          <p:nvPr>
            <p:ph idx="1"/>
          </p:nvPr>
        </p:nvSpPr>
        <p:spPr>
          <a:xfrm>
            <a:off x="533400" y="838200"/>
            <a:ext cx="8229600" cy="5257800"/>
          </a:xfrm>
        </p:spPr>
        <p:txBody>
          <a:bodyPr>
            <a:noAutofit/>
          </a:bodyPr>
          <a:lstStyle/>
          <a:p>
            <a:pPr lvl="0"/>
            <a:r>
              <a:rPr lang="en-US" sz="2000" b="1" dirty="0" err="1" smtClean="0"/>
              <a:t>Animoto</a:t>
            </a:r>
            <a:r>
              <a:rPr lang="en-US" sz="2000" dirty="0" smtClean="0"/>
              <a:t>  </a:t>
            </a:r>
            <a:r>
              <a:rPr lang="en-US" sz="2000" dirty="0"/>
              <a:t>is perhaps the most popular example of media applications on the cloud. </a:t>
            </a:r>
          </a:p>
          <a:p>
            <a:pPr lvl="0"/>
            <a:r>
              <a:rPr lang="en-US" sz="2000" dirty="0"/>
              <a:t>The Website provides users with a very straight forward interface or quickly creating videos out of images, music, and video fragments submitted by users. </a:t>
            </a:r>
          </a:p>
          <a:p>
            <a:pPr lvl="0"/>
            <a:r>
              <a:rPr lang="en-US" sz="2000" dirty="0"/>
              <a:t>Users select  a specific theme for a video, upload the photos and videos and order them in the sequence they want to appear, select the song for the music, and render the </a:t>
            </a:r>
            <a:r>
              <a:rPr lang="en-US" sz="2000" dirty="0" smtClean="0"/>
              <a:t>video. The </a:t>
            </a:r>
            <a:r>
              <a:rPr lang="en-US" sz="2000" dirty="0"/>
              <a:t>process is executed in the background and the user is notified via email once the video is rendered. </a:t>
            </a:r>
          </a:p>
          <a:p>
            <a:pPr lvl="0"/>
            <a:r>
              <a:rPr lang="en-US" sz="2000" b="1" dirty="0"/>
              <a:t>The core value of </a:t>
            </a:r>
            <a:r>
              <a:rPr lang="en-US" sz="2000" b="1" dirty="0" err="1"/>
              <a:t>Animoto</a:t>
            </a:r>
            <a:r>
              <a:rPr lang="en-US" sz="2000" b="1" dirty="0"/>
              <a:t> is the ability to quickly create videos with stunning effects without user intervention.</a:t>
            </a:r>
          </a:p>
          <a:p>
            <a:pPr lvl="0"/>
            <a:r>
              <a:rPr lang="en-US" sz="2000" b="1" dirty="0"/>
              <a:t>A proprietary artificial intelligence(AI) engine, which selects the animation and transition effects according to pictures and music, drives the rendering operation. </a:t>
            </a:r>
          </a:p>
          <a:p>
            <a:pPr lvl="0"/>
            <a:r>
              <a:rPr lang="en-US" sz="2000" dirty="0"/>
              <a:t>Users only have to define the storyboard by organizing pictures and videos in to the desired </a:t>
            </a:r>
            <a:r>
              <a:rPr lang="en-US" sz="2000" dirty="0" smtClean="0"/>
              <a:t>sequence. If </a:t>
            </a:r>
            <a:r>
              <a:rPr lang="en-US" sz="2000" dirty="0"/>
              <a:t>users don’t like the result, the video can be rendered again and the engine will select a different composition, thus producing a different outcome every time. </a:t>
            </a:r>
          </a:p>
        </p:txBody>
      </p:sp>
    </p:spTree>
    <p:extLst>
      <p:ext uri="{BB962C8B-B14F-4D97-AF65-F5344CB8AC3E}">
        <p14:creationId xmlns:p14="http://schemas.microsoft.com/office/powerpoint/2010/main" val="22738444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87362"/>
          </a:xfrm>
        </p:spPr>
        <p:txBody>
          <a:bodyPr>
            <a:normAutofit fontScale="90000"/>
          </a:bodyPr>
          <a:lstStyle/>
          <a:p>
            <a:r>
              <a:rPr lang="en-US" sz="3200" dirty="0">
                <a:solidFill>
                  <a:srgbClr val="FF0000"/>
                </a:solidFill>
              </a:rPr>
              <a:t>Media applications Media </a:t>
            </a:r>
            <a:r>
              <a:rPr lang="en-US" sz="3200" dirty="0" smtClean="0">
                <a:solidFill>
                  <a:srgbClr val="FF0000"/>
                </a:solidFill>
              </a:rPr>
              <a:t>– </a:t>
            </a:r>
            <a:r>
              <a:rPr lang="en-US" sz="3200" dirty="0" err="1" smtClean="0"/>
              <a:t>Animoto</a:t>
            </a:r>
            <a:r>
              <a:rPr lang="en-US" sz="3200" dirty="0" smtClean="0"/>
              <a:t>…</a:t>
            </a:r>
            <a:endParaRPr lang="en-US" sz="3200" dirty="0"/>
          </a:p>
        </p:txBody>
      </p:sp>
      <p:sp>
        <p:nvSpPr>
          <p:cNvPr id="3" name="Content Placeholder 2"/>
          <p:cNvSpPr>
            <a:spLocks noGrp="1"/>
          </p:cNvSpPr>
          <p:nvPr>
            <p:ph idx="1"/>
          </p:nvPr>
        </p:nvSpPr>
        <p:spPr>
          <a:xfrm>
            <a:off x="457200" y="990600"/>
            <a:ext cx="8229600" cy="6248400"/>
          </a:xfrm>
        </p:spPr>
        <p:txBody>
          <a:bodyPr>
            <a:normAutofit fontScale="40000" lnSpcReduction="20000"/>
          </a:bodyPr>
          <a:lstStyle/>
          <a:p>
            <a:pPr lvl="0"/>
            <a:r>
              <a:rPr lang="en-US" sz="4500" dirty="0"/>
              <a:t>The service allows users to create30-second videos for free. By paying a monthly or a yearly subscription it is possible to produce videos of any length and to choose among a wider range of templates. </a:t>
            </a:r>
          </a:p>
          <a:p>
            <a:pPr lvl="0"/>
            <a:r>
              <a:rPr lang="en-US" sz="4500" b="1" dirty="0"/>
              <a:t>The infrastructure supporting </a:t>
            </a:r>
            <a:r>
              <a:rPr lang="en-US" sz="4500" b="1" dirty="0" err="1"/>
              <a:t>Animoto</a:t>
            </a:r>
            <a:r>
              <a:rPr lang="en-US" sz="4500" b="1" dirty="0"/>
              <a:t> is complex and is composed of different systems that all need to scale </a:t>
            </a:r>
            <a:endParaRPr lang="en-US" sz="4500" dirty="0"/>
          </a:p>
          <a:p>
            <a:pPr lvl="0"/>
            <a:r>
              <a:rPr lang="en-US" sz="4500" b="1" dirty="0"/>
              <a:t>The core function is implemented on top of the Amazon Web Services infrastructure.</a:t>
            </a:r>
          </a:p>
          <a:p>
            <a:pPr lvl="0"/>
            <a:r>
              <a:rPr lang="en-US" sz="4500" dirty="0"/>
              <a:t> In particular, it uses Amazon</a:t>
            </a:r>
            <a:r>
              <a:rPr lang="en-US" sz="4500" b="1" dirty="0"/>
              <a:t> EC2 </a:t>
            </a:r>
            <a:r>
              <a:rPr lang="en-US" sz="4500" dirty="0"/>
              <a:t>for the Web front-end and the worker nodes; Amazon </a:t>
            </a:r>
            <a:r>
              <a:rPr lang="en-US" sz="4500" b="1" dirty="0"/>
              <a:t>S3</a:t>
            </a:r>
            <a:r>
              <a:rPr lang="en-US" sz="4500" dirty="0"/>
              <a:t> for the storage of pictures, music, and videos; and Amazon </a:t>
            </a:r>
            <a:r>
              <a:rPr lang="en-US" sz="4500" b="1" dirty="0"/>
              <a:t>SQS</a:t>
            </a:r>
            <a:r>
              <a:rPr lang="en-US" sz="4500" dirty="0"/>
              <a:t> for connecting all the components.</a:t>
            </a:r>
          </a:p>
          <a:p>
            <a:pPr lvl="0"/>
            <a:r>
              <a:rPr lang="en-US" sz="4500" dirty="0"/>
              <a:t> The system’s auto-scaling capabilities are managed by </a:t>
            </a:r>
            <a:r>
              <a:rPr lang="en-US" sz="4500" b="1" dirty="0" err="1"/>
              <a:t>Rightscale</a:t>
            </a:r>
            <a:r>
              <a:rPr lang="en-US" sz="4500" dirty="0"/>
              <a:t>, which monitors the load and controls the creation of new worker instances as well as their reclaim. Front-end nodes collect the components required to make the video and store them in S3. Once the storyboard of the video is completed, a video-rendering request is entered into a SQS queue. Worker nodes pick up rendering requests and perform the rendering. When the process is completed, another </a:t>
            </a:r>
            <a:r>
              <a:rPr lang="en-US" sz="4500" dirty="0" smtClean="0"/>
              <a:t>message </a:t>
            </a:r>
            <a:r>
              <a:rPr lang="en-US" sz="4500" dirty="0"/>
              <a:t>is entered into a different SQS queue and another request is served. </a:t>
            </a:r>
          </a:p>
          <a:p>
            <a:pPr lvl="0"/>
            <a:r>
              <a:rPr lang="en-US" sz="4500" dirty="0"/>
              <a:t>This last queue is cleared routinely and users are notified about the completion. The life of EC2 instances is controlled by </a:t>
            </a:r>
            <a:r>
              <a:rPr lang="en-US" sz="4500" dirty="0" err="1"/>
              <a:t>Rightscale</a:t>
            </a:r>
            <a:r>
              <a:rPr lang="en-US" sz="4500" dirty="0"/>
              <a:t>, which constantly monitors the load and the performance of the system and decides whether it is necessary to grow or shrink. </a:t>
            </a:r>
          </a:p>
          <a:p>
            <a:pPr lvl="0"/>
            <a:r>
              <a:rPr lang="en-US" sz="4500" b="1" dirty="0"/>
              <a:t>The architecture of the system has proven to be very scalable and reliable by using up to 5,000 servers on EC2 in peak times without dropping requests but simply causing acceptable temporary delays for the rendering process. </a:t>
            </a:r>
          </a:p>
          <a:p>
            <a:pPr marL="0" lvl="0" indent="0">
              <a:buNone/>
            </a:pPr>
            <a:endParaRPr lang="en-US" sz="4500" dirty="0"/>
          </a:p>
          <a:p>
            <a:endParaRPr lang="en-US" dirty="0"/>
          </a:p>
        </p:txBody>
      </p:sp>
    </p:spTree>
    <p:extLst>
      <p:ext uri="{BB962C8B-B14F-4D97-AF65-F5344CB8AC3E}">
        <p14:creationId xmlns:p14="http://schemas.microsoft.com/office/powerpoint/2010/main" val="17904962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44562"/>
          </a:xfrm>
        </p:spPr>
        <p:txBody>
          <a:bodyPr/>
          <a:lstStyle/>
          <a:p>
            <a:r>
              <a:rPr lang="en-US" sz="3200" dirty="0" smtClean="0">
                <a:solidFill>
                  <a:srgbClr val="FF0000"/>
                </a:solidFill>
              </a:rPr>
              <a:t>MULTIPLAYER ONLINE GAMING </a:t>
            </a:r>
            <a:endParaRPr lang="en-US" sz="3200" dirty="0">
              <a:solidFill>
                <a:srgbClr val="FF0000"/>
              </a:solidFill>
            </a:endParaRPr>
          </a:p>
        </p:txBody>
      </p:sp>
      <p:sp>
        <p:nvSpPr>
          <p:cNvPr id="3" name="Content Placeholder 2"/>
          <p:cNvSpPr>
            <a:spLocks noGrp="1"/>
          </p:cNvSpPr>
          <p:nvPr>
            <p:ph idx="1"/>
          </p:nvPr>
        </p:nvSpPr>
        <p:spPr>
          <a:xfrm>
            <a:off x="457200" y="838200"/>
            <a:ext cx="8229600" cy="5867400"/>
          </a:xfrm>
        </p:spPr>
        <p:txBody>
          <a:bodyPr>
            <a:noAutofit/>
          </a:bodyPr>
          <a:lstStyle/>
          <a:p>
            <a:r>
              <a:rPr lang="en-US" sz="1800" dirty="0" smtClean="0"/>
              <a:t>Online multiplayer gaming attracts millions of gamers around the world who share a common experience by playing together in a virtual environment that extends beyond the boundaries of a normal </a:t>
            </a:r>
            <a:r>
              <a:rPr lang="en-US" sz="1800" dirty="0"/>
              <a:t>LAN</a:t>
            </a:r>
            <a:r>
              <a:rPr lang="en-US" sz="1800" dirty="0" smtClean="0"/>
              <a:t>. </a:t>
            </a:r>
          </a:p>
          <a:p>
            <a:r>
              <a:rPr lang="en-US" sz="1800" b="1" dirty="0" smtClean="0"/>
              <a:t>Online games support hundreds of players in the same session</a:t>
            </a:r>
            <a:r>
              <a:rPr lang="en-US" sz="1800" dirty="0" smtClean="0"/>
              <a:t>, made possible by the specific architecture used to forward interactions, which is based on game log processing.</a:t>
            </a:r>
          </a:p>
          <a:p>
            <a:r>
              <a:rPr lang="en-US" sz="1800" dirty="0" smtClean="0"/>
              <a:t>Players  update </a:t>
            </a:r>
            <a:r>
              <a:rPr lang="en-US" sz="1800" dirty="0"/>
              <a:t>the </a:t>
            </a:r>
            <a:r>
              <a:rPr lang="en-US" sz="1800" dirty="0" smtClean="0"/>
              <a:t>game server hosting the game session , and the server integrates all the updates into a log that is made available to all the players through a TCP port.</a:t>
            </a:r>
          </a:p>
          <a:p>
            <a:r>
              <a:rPr lang="en-US" sz="1800" dirty="0" smtClean="0"/>
              <a:t>The </a:t>
            </a:r>
            <a:r>
              <a:rPr lang="en-US" sz="1800" dirty="0"/>
              <a:t>processing of </a:t>
            </a:r>
            <a:r>
              <a:rPr lang="en-US" sz="1800" b="1" dirty="0"/>
              <a:t>game logs is a potentially compute-intensive operation that strongly depends on the number of players online and the number of games monitored.</a:t>
            </a:r>
            <a:r>
              <a:rPr lang="en-US" sz="1800" dirty="0"/>
              <a:t> </a:t>
            </a:r>
            <a:endParaRPr lang="en-US" sz="1800" dirty="0" smtClean="0"/>
          </a:p>
          <a:p>
            <a:r>
              <a:rPr lang="en-US" sz="1800" dirty="0" smtClean="0"/>
              <a:t>Moreover</a:t>
            </a:r>
            <a:r>
              <a:rPr lang="en-US" sz="1800" dirty="0"/>
              <a:t>, gaming portals are Web applications and therefore might suffer from the spiky behavior of users that can </a:t>
            </a:r>
            <a:r>
              <a:rPr lang="en-US" sz="1800" b="1" dirty="0"/>
              <a:t>randomly generate large amounts of volatile workloads that do not justify capacity planning. </a:t>
            </a:r>
            <a:endParaRPr lang="en-US" sz="1800" b="1" dirty="0" smtClean="0"/>
          </a:p>
          <a:p>
            <a:r>
              <a:rPr lang="en-US" sz="1800" b="1" dirty="0" smtClean="0"/>
              <a:t>The </a:t>
            </a:r>
            <a:r>
              <a:rPr lang="en-US" sz="1800" b="1" dirty="0"/>
              <a:t>use of cloud computing technologies can provide the required elasticity for seamlessly </a:t>
            </a:r>
            <a:r>
              <a:rPr lang="en-US" sz="1800" b="1" dirty="0" smtClean="0"/>
              <a:t>processing </a:t>
            </a:r>
            <a:r>
              <a:rPr lang="en-US" sz="1800" b="1" dirty="0"/>
              <a:t>these workloads and scale as required when the number of users increases. </a:t>
            </a:r>
            <a:endParaRPr lang="en-US" sz="1800" b="1" dirty="0" smtClean="0"/>
          </a:p>
        </p:txBody>
      </p:sp>
    </p:spTree>
    <p:extLst>
      <p:ext uri="{BB962C8B-B14F-4D97-AF65-F5344CB8AC3E}">
        <p14:creationId xmlns:p14="http://schemas.microsoft.com/office/powerpoint/2010/main" val="258639238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For  further reading go through </a:t>
            </a:r>
            <a:r>
              <a:rPr lang="en-US" dirty="0" smtClean="0">
                <a:solidFill>
                  <a:srgbClr val="FF0000"/>
                </a:solidFill>
              </a:rPr>
              <a:t>Chapter 10 </a:t>
            </a:r>
            <a:r>
              <a:rPr lang="en-US" dirty="0" smtClean="0"/>
              <a:t>of the book  </a:t>
            </a:r>
            <a:r>
              <a:rPr lang="en-US" i="1" dirty="0" smtClean="0">
                <a:solidFill>
                  <a:srgbClr val="FF0000"/>
                </a:solidFill>
              </a:rPr>
              <a:t>Mastering </a:t>
            </a:r>
            <a:r>
              <a:rPr lang="en-US" i="1" dirty="0">
                <a:solidFill>
                  <a:srgbClr val="FF0000"/>
                </a:solidFill>
              </a:rPr>
              <a:t>Cloud Computing Foundations </a:t>
            </a:r>
            <a:r>
              <a:rPr lang="en-US" i="1" dirty="0" smtClean="0">
                <a:solidFill>
                  <a:srgbClr val="FF0000"/>
                </a:solidFill>
              </a:rPr>
              <a:t>and Applications Programming </a:t>
            </a:r>
            <a:r>
              <a:rPr lang="en-US" i="1" dirty="0" smtClean="0"/>
              <a:t>by  </a:t>
            </a:r>
            <a:r>
              <a:rPr lang="en-US" i="1" dirty="0" err="1"/>
              <a:t>Rajkumar</a:t>
            </a:r>
            <a:r>
              <a:rPr lang="en-US" i="1" dirty="0"/>
              <a:t> </a:t>
            </a:r>
            <a:r>
              <a:rPr lang="en-US" i="1" dirty="0" err="1"/>
              <a:t>Buyya</a:t>
            </a:r>
            <a:r>
              <a:rPr lang="en-US" i="1" dirty="0"/>
              <a:t> </a:t>
            </a:r>
          </a:p>
        </p:txBody>
      </p:sp>
    </p:spTree>
    <p:extLst>
      <p:ext uri="{BB962C8B-B14F-4D97-AF65-F5344CB8AC3E}">
        <p14:creationId xmlns:p14="http://schemas.microsoft.com/office/powerpoint/2010/main" val="29946356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3392</TotalTime>
  <Words>3953</Words>
  <Application>Microsoft Office PowerPoint</Application>
  <PresentationFormat>On-screen Show (4:3)</PresentationFormat>
  <Paragraphs>163</Paragraphs>
  <Slides>24</Slides>
  <Notes>1</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Cloud Applications </vt:lpstr>
      <vt:lpstr>1 SCIENTIFIC APPLICATIONS </vt:lpstr>
      <vt:lpstr>Healthcare:  ECG analysis in the cloud </vt:lpstr>
      <vt:lpstr>PowerPoint Presentation</vt:lpstr>
      <vt:lpstr>How ECG leverages on Cloud services </vt:lpstr>
      <vt:lpstr>Biology: Protein Structure Prediction </vt:lpstr>
      <vt:lpstr>Biology: Gene expression data analysis for cancer diagnosis </vt:lpstr>
      <vt:lpstr>Geo-Science: Satellite image processing </vt:lpstr>
      <vt:lpstr>2. BUSINESS AND CONSUMER APPLICATIONS </vt:lpstr>
      <vt:lpstr>CRM and ERP</vt:lpstr>
      <vt:lpstr>CRM- Salesforce.com  </vt:lpstr>
      <vt:lpstr>CRM – Microsoft dynamics CRM </vt:lpstr>
      <vt:lpstr>Productivity applications</vt:lpstr>
      <vt:lpstr>Productivity applications-Dropbox and iCloud </vt:lpstr>
      <vt:lpstr>Productivity applications-Dropbox and iCloud </vt:lpstr>
      <vt:lpstr>Productivity applications-Google docs</vt:lpstr>
      <vt:lpstr>Social networking </vt:lpstr>
      <vt:lpstr>PowerPoint Presentation</vt:lpstr>
      <vt:lpstr>Media applications  </vt:lpstr>
      <vt:lpstr>Media applications Media - Animoto  </vt:lpstr>
      <vt:lpstr>Media applications Media – Animoto…</vt:lpstr>
      <vt:lpstr>MULTIPLAYER ONLINE GAMING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Django</dc:creator>
  <cp:lastModifiedBy>Comp1</cp:lastModifiedBy>
  <cp:revision>68</cp:revision>
  <cp:lastPrinted>2020-03-09T15:48:18Z</cp:lastPrinted>
  <dcterms:created xsi:type="dcterms:W3CDTF">2016-03-12T14:33:23Z</dcterms:created>
  <dcterms:modified xsi:type="dcterms:W3CDTF">2020-03-11T07:23:55Z</dcterms:modified>
</cp:coreProperties>
</file>